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Lst>
  <p:sldSz cy="5143500" cx="9144000"/>
  <p:notesSz cx="6858000" cy="9144000"/>
  <p:embeddedFontLst>
    <p:embeddedFont>
      <p:font typeface="Raleway"/>
      <p:regular r:id="rId73"/>
      <p:bold r:id="rId74"/>
      <p:italic r:id="rId75"/>
      <p:boldItalic r:id="rId76"/>
    </p:embeddedFont>
    <p:embeddedFont>
      <p:font typeface="Lato"/>
      <p:regular r:id="rId77"/>
      <p:bold r:id="rId78"/>
      <p:italic r:id="rId79"/>
      <p:boldItalic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aleway-regular.fntdata"/><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font" Target="fonts/Raleway-italic.fntdata"/><Relationship Id="rId30" Type="http://schemas.openxmlformats.org/officeDocument/2006/relationships/slide" Target="slides/slide25.xml"/><Relationship Id="rId74" Type="http://schemas.openxmlformats.org/officeDocument/2006/relationships/font" Target="fonts/Raleway-bold.fntdata"/><Relationship Id="rId33" Type="http://schemas.openxmlformats.org/officeDocument/2006/relationships/slide" Target="slides/slide28.xml"/><Relationship Id="rId77" Type="http://schemas.openxmlformats.org/officeDocument/2006/relationships/font" Target="fonts/Lato-regular.fntdata"/><Relationship Id="rId32" Type="http://schemas.openxmlformats.org/officeDocument/2006/relationships/slide" Target="slides/slide27.xml"/><Relationship Id="rId76" Type="http://schemas.openxmlformats.org/officeDocument/2006/relationships/font" Target="fonts/Raleway-boldItalic.fntdata"/><Relationship Id="rId35" Type="http://schemas.openxmlformats.org/officeDocument/2006/relationships/slide" Target="slides/slide30.xml"/><Relationship Id="rId79" Type="http://schemas.openxmlformats.org/officeDocument/2006/relationships/font" Target="fonts/Lato-italic.fntdata"/><Relationship Id="rId34" Type="http://schemas.openxmlformats.org/officeDocument/2006/relationships/slide" Target="slides/slide29.xml"/><Relationship Id="rId78" Type="http://schemas.openxmlformats.org/officeDocument/2006/relationships/font" Target="fonts/Lato-bold.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dd762aaadb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dd762aaadb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dd76951b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dd76951b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dd76951ba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dd76951ba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dd76951ba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dd76951ba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dd76951ba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dd76951ba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dd76951ba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dd76951ba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dd76951ba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dd76951ba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dd76951ba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dd76951ba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dd76951ba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dd76951ba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dd76951ba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dd76951ba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dd76951ba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dd76951ba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dd76951ba4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dd76951ba4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dd76951ba4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dd76951ba4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dd76951ba4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dd76951ba4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dd76951ba4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dd76951ba4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dd76951ba4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dd76951ba4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dd76951ba4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dd76951ba4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de8ae25df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de8ae25df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de8ae25df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de8ae25d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de8ae25df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de8ae25df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de8ae25df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de8ae25df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Cada história (similar aos casos de uso descritos no Capítulo 5) é escrita pelo cliente e é colocada em uma ficha. O cliente atribui um valor (uma prioridade) à história baseando-se no valor de negócio global do recurso ou função.5 Os membros da equipe XP avaliam então cada história e atribuem um custo — medido em semanas de desenvolvimento — a ela.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de8ae25df6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de8ae25df6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de8ae25df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de8ae25df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de8ae25df6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de8ae25df6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de8ae25df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de8ae25df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de8ae25df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de8ae25df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de8ae25df6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de8ae25df6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de8ae25df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de8ae25df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de8ae25df6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de8ae25df6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de8ae25df6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de8ae25df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de8ae25df6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de8ae25df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de8ae25df6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de8ae25df6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de8ae25df6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de8ae25df6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de8ae25df6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de8ae25df6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de8ae25df6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de8ae25df6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 número de sprints necessários para cada atividade metodológica varia dependendo do tamanho e da complexidade do produto</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de8ae25df6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de8ae25df6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 número de sprints necessários para cada atividade metodológica varia dependendo do tamanho e da complexidade do produto</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de8ae25df6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de8ae25df6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 número de sprints necessários para cada atividade metodológica varia dependendo do tamanho e da complexidade do produto</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de8ae25df6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de8ae25df6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 número de sprints necessários para cada atividade metodológica varia dependendo do tamanho e da complexidade do produto</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de8ae25df6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de8ae25df6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 número de sprints necessários para cada atividade metodológica varia dependendo do tamanho e da complexidade do produto</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de8ae25df6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de8ae25df6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 número de sprints necessários para cada atividade metodológica varia dependendo do tamanho e da complexidade do produto</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1de8ae25df6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1de8ae25df6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 número de sprints necessários para cada atividade metodológica varia dependendo do tamanho e da complexidade do produto</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de8ae25df6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de8ae25df6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de8ae25df6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de8ae25df6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de8ae25df6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de8ae25df6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de8ae25df6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de8ae25df6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Os detalhes remanescentes podem ser completados depois, quando outros requisitos de negócio forem conhecidos ou alterações tiverem sido solicitadas e acomodadas</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de8ae25df6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de8ae25df6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Os detalhes remanescentes podem ser completados depois, quando outros requisitos de negócio forem conhecidos ou alterações tiverem sido solicitadas e acomodadas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de8ae25df6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de8ae25df6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Feasibility study - Estudo de viabilidade:</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de8ae25df6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de8ae25df6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Feasibility study - Estudo de viabilidade:</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de8ae25df6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1de8ae25df6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Feasibility study - Estudo de viabilidade:</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de8ae25df6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1de8ae25df6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Nota: Todos os protótipos DSDM são feitos com a intenção de que evoluam para a aplicação final entregue ao cliente.</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de8ae25df6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de8ae25df6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de8ae25df6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de8ae25df6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O DSDM pode ser combinado com a XP (Seção 3.4) para fornecer uma abordagem combinatória que define um modelo de processos consistente (o ciclo de vida do DSDM) com as práticas básicas (XP) necessárias para construir incrementos de software</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de8ae25df6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1de8ae25df6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1de8ae25df6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1de8ae25df6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de8ae25df6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de8ae25df6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de8ae25df6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de8ae25df6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de8ae25df6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de8ae25df6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de8ae25df6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1de8ae25df6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1de8ae25df6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1de8ae25df6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1de8ae25df6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1de8ae25df6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1de8ae25df6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1de8ae25df6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1de8ae25df6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1de8ae25df6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de8ae25df6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1de8ae25df6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de8ae25df6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1de8ae25df6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1de8ae25df6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1de8ae25df6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1dd762aaadb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1dd762aaadb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www.youtube.com/watch?v=8UWIdOwniJ4&amp;ab_channel=WorldRugby"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www.dsdm.org"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Desenvolvimento Ágil</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pt-BR"/>
              <a:t>Herysson R. Figueiredo</a:t>
            </a:r>
            <a:endParaRPr/>
          </a:p>
          <a:p>
            <a:pPr indent="0" lvl="0" marL="0" rtl="0" algn="l">
              <a:spcBef>
                <a:spcPts val="0"/>
              </a:spcBef>
              <a:spcAft>
                <a:spcPts val="0"/>
              </a:spcAft>
              <a:buNone/>
            </a:pPr>
            <a:r>
              <a:rPr lang="pt-BR"/>
              <a:t>herysson.figueiredo@ufn.edu.br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Sumário</a:t>
            </a:r>
            <a:endParaRPr/>
          </a:p>
        </p:txBody>
      </p:sp>
      <p:sp>
        <p:nvSpPr>
          <p:cNvPr id="93" name="Google Shape;93;p14"/>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342900" lvl="0" marL="457200" rtl="0" algn="just">
              <a:spcBef>
                <a:spcPts val="0"/>
              </a:spcBef>
              <a:spcAft>
                <a:spcPts val="0"/>
              </a:spcAft>
              <a:buSzPts val="1800"/>
              <a:buChar char="●"/>
            </a:pPr>
            <a:r>
              <a:rPr lang="pt-BR" sz="1800"/>
              <a:t>O que é desenvolvimento ágil</a:t>
            </a:r>
            <a:endParaRPr sz="1800"/>
          </a:p>
          <a:p>
            <a:pPr indent="-342900" lvl="0" marL="457200" rtl="0" algn="just">
              <a:spcBef>
                <a:spcPts val="0"/>
              </a:spcBef>
              <a:spcAft>
                <a:spcPts val="0"/>
              </a:spcAft>
              <a:buSzPts val="1800"/>
              <a:buChar char="●"/>
            </a:pPr>
            <a:r>
              <a:rPr lang="pt-BR" sz="1800"/>
              <a:t>O que é agilidade</a:t>
            </a:r>
            <a:endParaRPr sz="1800"/>
          </a:p>
          <a:p>
            <a:pPr indent="-342900" lvl="0" marL="457200" rtl="0" algn="just">
              <a:spcBef>
                <a:spcPts val="0"/>
              </a:spcBef>
              <a:spcAft>
                <a:spcPts val="0"/>
              </a:spcAft>
              <a:buSzPts val="1800"/>
              <a:buChar char="●"/>
            </a:pPr>
            <a:r>
              <a:rPr lang="pt-BR" sz="1800"/>
              <a:t>Agilidade e o custo das mudanças</a:t>
            </a:r>
            <a:endParaRPr sz="1800"/>
          </a:p>
          <a:p>
            <a:pPr indent="-342900" lvl="0" marL="457200" rtl="0" algn="just">
              <a:spcBef>
                <a:spcPts val="0"/>
              </a:spcBef>
              <a:spcAft>
                <a:spcPts val="0"/>
              </a:spcAft>
              <a:buSzPts val="1800"/>
              <a:buChar char="●"/>
            </a:pPr>
            <a:r>
              <a:rPr lang="pt-BR" sz="1800"/>
              <a:t>Processo ágil</a:t>
            </a:r>
            <a:endParaRPr sz="1800"/>
          </a:p>
          <a:p>
            <a:pPr indent="-342900" lvl="0" marL="457200" rtl="0" algn="just">
              <a:spcBef>
                <a:spcPts val="0"/>
              </a:spcBef>
              <a:spcAft>
                <a:spcPts val="0"/>
              </a:spcAft>
              <a:buSzPts val="1800"/>
              <a:buChar char="●"/>
            </a:pPr>
            <a:r>
              <a:rPr lang="pt-BR" sz="1800"/>
              <a:t>Princípios</a:t>
            </a:r>
            <a:r>
              <a:rPr lang="pt-BR" sz="1800"/>
              <a:t> da agilidade</a:t>
            </a:r>
            <a:endParaRPr sz="1800"/>
          </a:p>
          <a:p>
            <a:pPr indent="-342900" lvl="0" marL="457200" rtl="0" algn="just">
              <a:spcBef>
                <a:spcPts val="0"/>
              </a:spcBef>
              <a:spcAft>
                <a:spcPts val="0"/>
              </a:spcAft>
              <a:buSzPts val="1800"/>
              <a:buChar char="●"/>
            </a:pPr>
            <a:r>
              <a:rPr lang="pt-BR" sz="1800"/>
              <a:t>Modelos de processo ágeis</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O que é?</a:t>
            </a:r>
            <a:endParaRPr/>
          </a:p>
        </p:txBody>
      </p:sp>
      <p:sp>
        <p:nvSpPr>
          <p:cNvPr id="99" name="Google Shape;99;p15"/>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A engenharia de software ágil combina filosofia com um conjunto de princípios de desenvolvimento. A filosofia defende a satisfação do cliente e a entrega de incremental prévio; equipes de projeto pequenas e altamente motivadas; métodos informais; artefato de engenharia de software mínimos e, acima de tudo, simplicidade no desenvolvimento geral.</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O que é?</a:t>
            </a:r>
            <a:endParaRPr/>
          </a:p>
        </p:txBody>
      </p:sp>
      <p:sp>
        <p:nvSpPr>
          <p:cNvPr id="105" name="Google Shape;105;p16"/>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 Os princípios de desenvolvimento priorizam a entrega mais que análise e projeto (embora essas atividades não sejam desencorajadas); também priorizam a comunicação ativa e contínua entre desenvolvedores e clientes.</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Quem realiza?</a:t>
            </a:r>
            <a:endParaRPr/>
          </a:p>
        </p:txBody>
      </p:sp>
      <p:sp>
        <p:nvSpPr>
          <p:cNvPr id="111" name="Google Shape;111;p17"/>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Os engenheiros de software e outros envolvidos no projeto (gerentes, clientes, usuários finais) trabalham conjuntamente em uma equipe ágil — uma equipe que se auto-organiza e que controla seu próprio destino. Uma equipe ágil acelera a comunicação e a colaboração entre todos os participantes (que estão a seu serviço).</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Por que é importante?</a:t>
            </a:r>
            <a:endParaRPr/>
          </a:p>
        </p:txBody>
      </p:sp>
      <p:sp>
        <p:nvSpPr>
          <p:cNvPr id="117" name="Google Shape;117;p18"/>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O moderno ambiente dos sistemas e dos produtos da área é acelerado e está em constante mudança. A engenharia de software ágil constitui uma razoável alternativa para a engenharia convencional voltada para certas classes de software e para certos tipos de projetos, e tem se mostrado capaz de entregar sistemas corretos rapidamente.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Quais são as etapas envolvidas?	</a:t>
            </a:r>
            <a:endParaRPr/>
          </a:p>
        </p:txBody>
      </p:sp>
      <p:sp>
        <p:nvSpPr>
          <p:cNvPr id="123" name="Google Shape;123;p19"/>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O desenvolvimento ágil poderia ser mais bem denominado “engenharia de software flexível”. As atividades metodológicas básicas permanecem: comunicação, planejamento, modelagem, construção e emprego.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Quais são as etapas envolvidas?	</a:t>
            </a:r>
            <a:endParaRPr/>
          </a:p>
        </p:txBody>
      </p:sp>
      <p:sp>
        <p:nvSpPr>
          <p:cNvPr id="129" name="Google Shape;129;p20"/>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Entretanto, estas se transformam em um conjunto de tarefas mínimas que impulsiona a equipe para o desenvolvimento e para a entrega (pode-se levantar a questão de que isso é feito em detrimento da análise do problema e do projeto de soluções).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Qual é o artefato?</a:t>
            </a:r>
            <a:endParaRPr/>
          </a:p>
        </p:txBody>
      </p:sp>
      <p:sp>
        <p:nvSpPr>
          <p:cNvPr id="135" name="Google Shape;135;p21"/>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Tanto o cliente como o engenheiro têm o mesmo parecer: o único artefato realmente importante consiste em um “incremento de software” operacional que seja entregue, adequadamente, na data combinada.</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Como garantir que o trabalho foi realizado corretamente?</a:t>
            </a:r>
            <a:endParaRPr/>
          </a:p>
        </p:txBody>
      </p:sp>
      <p:sp>
        <p:nvSpPr>
          <p:cNvPr id="141" name="Google Shape;141;p22"/>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Se a equipe ágil concordar que o processo funciona e essa equipe produz incrementos de software passíveis de entrega e que satisfaçam o cliente, então, o trabalho está correto.</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O que é Agilidade?</a:t>
            </a:r>
            <a:endParaRPr/>
          </a:p>
        </p:txBody>
      </p:sp>
      <p:sp>
        <p:nvSpPr>
          <p:cNvPr id="147" name="Google Shape;147;p23"/>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Uma equipe ágil é aquela rápida e capaz de responder apropriadamente a </a:t>
            </a:r>
            <a:r>
              <a:rPr b="1" lang="pt-BR" sz="1800"/>
              <a:t>mudanças</a:t>
            </a:r>
            <a:r>
              <a:rPr lang="pt-BR" sz="1800"/>
              <a:t>. </a:t>
            </a:r>
            <a:r>
              <a:rPr b="1" lang="pt-BR" sz="1800"/>
              <a:t>Mudanças</a:t>
            </a:r>
            <a:r>
              <a:rPr lang="pt-BR" sz="1800"/>
              <a:t> têm muito a ver com desenvolvimento de software. </a:t>
            </a:r>
            <a:r>
              <a:rPr b="1" lang="pt-BR" sz="1800"/>
              <a:t>Mudanças</a:t>
            </a:r>
            <a:r>
              <a:rPr lang="pt-BR" sz="1800"/>
              <a:t> no software que está sendo criado, </a:t>
            </a:r>
            <a:r>
              <a:rPr b="1" lang="pt-BR" sz="1800"/>
              <a:t>mudanças</a:t>
            </a:r>
            <a:r>
              <a:rPr lang="pt-BR" sz="1800"/>
              <a:t> nos membros da equipe, </a:t>
            </a:r>
            <a:r>
              <a:rPr b="1" lang="pt-BR" sz="1800"/>
              <a:t>mudanças</a:t>
            </a:r>
            <a:r>
              <a:rPr lang="pt-BR" sz="1800"/>
              <a:t> devido a novas tecnologias, </a:t>
            </a:r>
            <a:r>
              <a:rPr b="1" lang="pt-BR" sz="1800"/>
              <a:t>mudanças</a:t>
            </a:r>
            <a:r>
              <a:rPr lang="pt-BR" sz="1800"/>
              <a:t> de todos os tipos que poderão ter um impacto no produto que está em construção ou no projeto que cria o produto.</a:t>
            </a:r>
            <a:endParaRPr sz="1800"/>
          </a:p>
        </p:txBody>
      </p:sp>
      <p:sp>
        <p:nvSpPr>
          <p:cNvPr id="148" name="Google Shape;148;p23"/>
          <p:cNvSpPr txBox="1"/>
          <p:nvPr/>
        </p:nvSpPr>
        <p:spPr>
          <a:xfrm>
            <a:off x="856075" y="4407700"/>
            <a:ext cx="7597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latin typeface="Lato"/>
                <a:ea typeface="Lato"/>
                <a:cs typeface="Lato"/>
                <a:sym typeface="Lato"/>
              </a:rPr>
              <a:t>Os métodos ágeis são algumas vezes conhecidos como métodos </a:t>
            </a:r>
            <a:r>
              <a:rPr i="1" lang="pt-BR">
                <a:latin typeface="Lato"/>
                <a:ea typeface="Lato"/>
                <a:cs typeface="Lato"/>
                <a:sym typeface="Lato"/>
              </a:rPr>
              <a:t>light</a:t>
            </a:r>
            <a:r>
              <a:rPr lang="pt-BR">
                <a:latin typeface="Lato"/>
                <a:ea typeface="Lato"/>
                <a:cs typeface="Lato"/>
                <a:sym typeface="Lato"/>
              </a:rPr>
              <a:t> ou métodos enxutos (</a:t>
            </a:r>
            <a:r>
              <a:rPr i="1" lang="pt-BR">
                <a:latin typeface="Lato"/>
                <a:ea typeface="Lato"/>
                <a:cs typeface="Lato"/>
                <a:sym typeface="Lato"/>
              </a:rPr>
              <a:t>lean methods</a:t>
            </a:r>
            <a:r>
              <a:rPr lang="pt-BR">
                <a:latin typeface="Lato"/>
                <a:ea typeface="Lato"/>
                <a:cs typeface="Lato"/>
                <a:sym typeface="Lato"/>
              </a:rPr>
              <a:t>)</a:t>
            </a:r>
            <a:endParaRPr>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Agilidade e o Custo da s Mudanças</a:t>
            </a:r>
            <a:endParaRPr/>
          </a:p>
        </p:txBody>
      </p:sp>
      <p:sp>
        <p:nvSpPr>
          <p:cNvPr id="154" name="Google Shape;154;p24"/>
          <p:cNvSpPr txBox="1"/>
          <p:nvPr>
            <p:ph idx="1" type="body"/>
          </p:nvPr>
        </p:nvSpPr>
        <p:spPr>
          <a:xfrm>
            <a:off x="729450" y="2078875"/>
            <a:ext cx="43359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A sabedoria convencional em desenvolvimento de software (baseada em décadas de experiência) afirma que os custos de mudanças aumentam de forma não linear conforme o projeto avança</a:t>
            </a:r>
            <a:endParaRPr sz="1800"/>
          </a:p>
        </p:txBody>
      </p:sp>
      <p:pic>
        <p:nvPicPr>
          <p:cNvPr id="155" name="Google Shape;155;p24"/>
          <p:cNvPicPr preferRelativeResize="0"/>
          <p:nvPr/>
        </p:nvPicPr>
        <p:blipFill>
          <a:blip r:embed="rId3">
            <a:alphaModFix/>
          </a:blip>
          <a:stretch>
            <a:fillRect/>
          </a:stretch>
        </p:blipFill>
        <p:spPr>
          <a:xfrm>
            <a:off x="5065475" y="1871711"/>
            <a:ext cx="4078525" cy="26754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O que é Processo Ágil?</a:t>
            </a:r>
            <a:endParaRPr/>
          </a:p>
        </p:txBody>
      </p:sp>
      <p:sp>
        <p:nvSpPr>
          <p:cNvPr id="161" name="Google Shape;161;p25"/>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fontScale="85000" lnSpcReduction="10000"/>
          </a:bodyPr>
          <a:lstStyle/>
          <a:p>
            <a:pPr indent="457200" lvl="0" marL="0" rtl="0" algn="just">
              <a:spcBef>
                <a:spcPts val="0"/>
              </a:spcBef>
              <a:spcAft>
                <a:spcPts val="1200"/>
              </a:spcAft>
              <a:buNone/>
            </a:pPr>
            <a:r>
              <a:rPr lang="pt-BR" sz="1800"/>
              <a:t> Um </a:t>
            </a:r>
            <a:r>
              <a:rPr b="1" lang="pt-BR" sz="1800"/>
              <a:t>processo ágil</a:t>
            </a:r>
            <a:r>
              <a:rPr lang="pt-BR" sz="1800"/>
              <a:t> de software deve se </a:t>
            </a:r>
            <a:r>
              <a:rPr b="1" lang="pt-BR" sz="1800"/>
              <a:t>adaptar</a:t>
            </a:r>
            <a:r>
              <a:rPr lang="pt-BR" sz="1800"/>
              <a:t> </a:t>
            </a:r>
            <a:r>
              <a:rPr b="1" lang="pt-BR" sz="1800"/>
              <a:t>incrementalmente</a:t>
            </a:r>
            <a:r>
              <a:rPr lang="pt-BR" sz="1800"/>
              <a:t>. Para conseguir uma adaptação incremental, a equipe ágil precisa de </a:t>
            </a:r>
            <a:r>
              <a:rPr i="1" lang="pt-BR" sz="1800"/>
              <a:t>feedback </a:t>
            </a:r>
            <a:r>
              <a:rPr lang="pt-BR" sz="1800"/>
              <a:t>do cliente (de modo que as adaptações apropriadas possam ser feitas). Um efetivo catalisador para </a:t>
            </a:r>
            <a:r>
              <a:rPr i="1" lang="pt-BR" sz="1800"/>
              <a:t>feedback</a:t>
            </a:r>
            <a:r>
              <a:rPr lang="pt-BR" sz="1800"/>
              <a:t> de cliente é um </a:t>
            </a:r>
            <a:r>
              <a:rPr b="1" lang="pt-BR" sz="1800"/>
              <a:t>protótipo</a:t>
            </a:r>
            <a:r>
              <a:rPr lang="pt-BR" sz="1800"/>
              <a:t> </a:t>
            </a:r>
            <a:r>
              <a:rPr b="1" lang="pt-BR" sz="1800"/>
              <a:t>operacional</a:t>
            </a:r>
            <a:r>
              <a:rPr lang="pt-BR" sz="1800"/>
              <a:t> ou parte de um sistema operacional. Dessa forma, deve se instituir uma estratégia de </a:t>
            </a:r>
            <a:r>
              <a:rPr b="1" lang="pt-BR" sz="1800"/>
              <a:t>desenvolvimento incremental</a:t>
            </a:r>
            <a:r>
              <a:rPr lang="pt-BR" sz="1800"/>
              <a:t>. Os incrementos de </a:t>
            </a:r>
            <a:r>
              <a:rPr i="1" lang="pt-BR" sz="1800"/>
              <a:t>software</a:t>
            </a:r>
            <a:r>
              <a:rPr lang="pt-BR" sz="1800"/>
              <a:t> (</a:t>
            </a:r>
            <a:r>
              <a:rPr b="1" lang="pt-BR" sz="1800"/>
              <a:t>protótipos executáveis</a:t>
            </a:r>
            <a:r>
              <a:rPr lang="pt-BR" sz="1800"/>
              <a:t> ou</a:t>
            </a:r>
            <a:r>
              <a:rPr b="1" lang="pt-BR" sz="1800"/>
              <a:t> partes de um sistema operacional</a:t>
            </a:r>
            <a:r>
              <a:rPr lang="pt-BR" sz="1800"/>
              <a:t>) devem ser entregues em </a:t>
            </a:r>
            <a:r>
              <a:rPr b="1" lang="pt-BR" sz="1800"/>
              <a:t>curtos períodos de tempo</a:t>
            </a:r>
            <a:r>
              <a:rPr lang="pt-BR" sz="1800"/>
              <a:t>, de modo que as </a:t>
            </a:r>
            <a:r>
              <a:rPr b="1" lang="pt-BR" sz="1800"/>
              <a:t>adaptações</a:t>
            </a:r>
            <a:r>
              <a:rPr lang="pt-BR" sz="1800"/>
              <a:t> acompanhem o mesmo ritmo das mudanças (</a:t>
            </a:r>
            <a:r>
              <a:rPr b="1" lang="pt-BR" sz="1800"/>
              <a:t>imprevisibilidade</a:t>
            </a:r>
            <a:r>
              <a:rPr lang="pt-BR" sz="1800"/>
              <a:t>).</a:t>
            </a:r>
            <a:endParaRPr sz="1800"/>
          </a:p>
        </p:txBody>
      </p:sp>
      <p:sp>
        <p:nvSpPr>
          <p:cNvPr id="162" name="Google Shape;162;p25"/>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Princípios da agilidade</a:t>
            </a:r>
            <a:endParaRPr/>
          </a:p>
        </p:txBody>
      </p:sp>
      <p:sp>
        <p:nvSpPr>
          <p:cNvPr id="168" name="Google Shape;168;p26"/>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0"/>
              </a:spcAft>
              <a:buNone/>
            </a:pPr>
            <a:r>
              <a:rPr lang="pt-BR" sz="1800"/>
              <a:t>1- </a:t>
            </a:r>
            <a:r>
              <a:rPr lang="pt-BR" sz="1800"/>
              <a:t>A maior prioridade é satisfazer o cliente por meio de entrega adiantada e contínua de software valioso.</a:t>
            </a:r>
            <a:endParaRPr sz="1800"/>
          </a:p>
          <a:p>
            <a:pPr indent="0" lvl="0" marL="0" rtl="0" algn="just">
              <a:spcBef>
                <a:spcPts val="1200"/>
              </a:spcBef>
              <a:spcAft>
                <a:spcPts val="1200"/>
              </a:spcAft>
              <a:buNone/>
            </a:pPr>
            <a:r>
              <a:rPr lang="pt-BR" sz="1800"/>
              <a:t>2-Acolha bem os pedidos de alterações, mesmo atrasados no desenvolvimento. Os processos ágeis se aproveitam das mudanças como uma vantagem competitiva na relação com o cliente</a:t>
            </a:r>
            <a:endParaRPr sz="1800"/>
          </a:p>
        </p:txBody>
      </p:sp>
      <p:sp>
        <p:nvSpPr>
          <p:cNvPr id="169" name="Google Shape;169;p26"/>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Princípios da agilidade</a:t>
            </a:r>
            <a:endParaRPr/>
          </a:p>
        </p:txBody>
      </p:sp>
      <p:sp>
        <p:nvSpPr>
          <p:cNvPr id="175" name="Google Shape;175;p27"/>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lnSpcReduction="10000"/>
          </a:bodyPr>
          <a:lstStyle/>
          <a:p>
            <a:pPr indent="0" lvl="0" marL="0" rtl="0" algn="just">
              <a:spcBef>
                <a:spcPts val="0"/>
              </a:spcBef>
              <a:spcAft>
                <a:spcPts val="0"/>
              </a:spcAft>
              <a:buNone/>
            </a:pPr>
            <a:r>
              <a:rPr lang="pt-BR" sz="1800"/>
              <a:t>3-Entregue software em funcionamento frequentemente, de algumas semanas para alguns meses, dando preferência a intervalos mais curtos.</a:t>
            </a:r>
            <a:endParaRPr sz="1800"/>
          </a:p>
          <a:p>
            <a:pPr indent="0" lvl="0" marL="0" rtl="0" algn="just">
              <a:spcBef>
                <a:spcPts val="1200"/>
              </a:spcBef>
              <a:spcAft>
                <a:spcPts val="0"/>
              </a:spcAft>
              <a:buNone/>
            </a:pPr>
            <a:r>
              <a:rPr lang="pt-BR" sz="1800"/>
              <a:t>4-O pessoal comercial e os desenvolvedores devem trabalhar em conjunto diariamente ao longo de todo o projeto.</a:t>
            </a:r>
            <a:endParaRPr sz="1800"/>
          </a:p>
          <a:p>
            <a:pPr indent="0" lvl="0" marL="0" rtl="0" algn="just">
              <a:spcBef>
                <a:spcPts val="1200"/>
              </a:spcBef>
              <a:spcAft>
                <a:spcPts val="1200"/>
              </a:spcAft>
              <a:buNone/>
            </a:pPr>
            <a:r>
              <a:rPr lang="pt-BR" sz="1800"/>
              <a:t>5-Construa projetos em torno de indivíduos motivados. Dê a eles o ambiente e apoio necessários e confie neles para ter o trabalho feito</a:t>
            </a:r>
            <a:endParaRPr sz="1800"/>
          </a:p>
        </p:txBody>
      </p:sp>
      <p:sp>
        <p:nvSpPr>
          <p:cNvPr id="176" name="Google Shape;176;p27"/>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Princípios da agilidade</a:t>
            </a:r>
            <a:endParaRPr/>
          </a:p>
        </p:txBody>
      </p:sp>
      <p:sp>
        <p:nvSpPr>
          <p:cNvPr id="182" name="Google Shape;182;p28"/>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fontScale="92500"/>
          </a:bodyPr>
          <a:lstStyle/>
          <a:p>
            <a:pPr indent="0" lvl="0" marL="0" rtl="0" algn="just">
              <a:spcBef>
                <a:spcPts val="0"/>
              </a:spcBef>
              <a:spcAft>
                <a:spcPts val="0"/>
              </a:spcAft>
              <a:buNone/>
            </a:pPr>
            <a:r>
              <a:rPr lang="pt-BR" sz="1800"/>
              <a:t>6-O método mais eficiente e efetivo de transmitir informações para e dentro de uma equipe de desenvolvimento é uma conversa aberta, de forma presencial.</a:t>
            </a:r>
            <a:endParaRPr sz="1800"/>
          </a:p>
          <a:p>
            <a:pPr indent="0" lvl="0" marL="0" rtl="0" algn="just">
              <a:spcBef>
                <a:spcPts val="1200"/>
              </a:spcBef>
              <a:spcAft>
                <a:spcPts val="0"/>
              </a:spcAft>
              <a:buNone/>
            </a:pPr>
            <a:r>
              <a:rPr lang="pt-BR" sz="1800"/>
              <a:t>7-Software em funcionamento é a principal medida de progresso</a:t>
            </a:r>
            <a:endParaRPr sz="1800"/>
          </a:p>
          <a:p>
            <a:pPr indent="0" lvl="0" marL="0" rtl="0" algn="just">
              <a:spcBef>
                <a:spcPts val="1200"/>
              </a:spcBef>
              <a:spcAft>
                <a:spcPts val="1200"/>
              </a:spcAft>
              <a:buNone/>
            </a:pPr>
            <a:r>
              <a:rPr lang="pt-BR" sz="1800"/>
              <a:t>8-Os processos ágeis promovem desenvolvimento sustentável. Os proponentes, desenvolvedores e usuários devem estar capacitados para manter um ritmo constante </a:t>
            </a:r>
            <a:r>
              <a:rPr lang="pt-BR" sz="1800"/>
              <a:t>indefinidamente</a:t>
            </a:r>
            <a:endParaRPr sz="1800"/>
          </a:p>
        </p:txBody>
      </p:sp>
      <p:sp>
        <p:nvSpPr>
          <p:cNvPr id="183" name="Google Shape;183;p28"/>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Princípios da agilidade</a:t>
            </a:r>
            <a:endParaRPr/>
          </a:p>
        </p:txBody>
      </p:sp>
      <p:sp>
        <p:nvSpPr>
          <p:cNvPr id="189" name="Google Shape;189;p29"/>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fontScale="85000" lnSpcReduction="20000"/>
          </a:bodyPr>
          <a:lstStyle/>
          <a:p>
            <a:pPr indent="0" lvl="0" marL="0" rtl="0" algn="just">
              <a:spcBef>
                <a:spcPts val="0"/>
              </a:spcBef>
              <a:spcAft>
                <a:spcPts val="0"/>
              </a:spcAft>
              <a:buNone/>
            </a:pPr>
            <a:r>
              <a:rPr lang="pt-BR" sz="1800"/>
              <a:t>9-Atenção contínua para com a excelência técnica e para com bons projetos aumenta a agilidade.</a:t>
            </a:r>
            <a:endParaRPr sz="1800"/>
          </a:p>
          <a:p>
            <a:pPr indent="0" lvl="0" marL="0" rtl="0" algn="just">
              <a:spcBef>
                <a:spcPts val="1200"/>
              </a:spcBef>
              <a:spcAft>
                <a:spcPts val="0"/>
              </a:spcAft>
              <a:buNone/>
            </a:pPr>
            <a:r>
              <a:rPr lang="pt-BR" sz="1800"/>
              <a:t>10-Simplicidade — a arte de maximizar o volume de trabalho não efetuado — é essencial.</a:t>
            </a:r>
            <a:endParaRPr sz="1800"/>
          </a:p>
          <a:p>
            <a:pPr indent="0" lvl="0" marL="0" rtl="0" algn="just">
              <a:spcBef>
                <a:spcPts val="1200"/>
              </a:spcBef>
              <a:spcAft>
                <a:spcPts val="0"/>
              </a:spcAft>
              <a:buNone/>
            </a:pPr>
            <a:r>
              <a:rPr lang="pt-BR" sz="1800"/>
              <a:t>11-As melhores arquiteturas, requisitos e projetos emergem de equipes que se auto-organizam</a:t>
            </a:r>
            <a:endParaRPr sz="1800"/>
          </a:p>
          <a:p>
            <a:pPr indent="0" lvl="0" marL="0" rtl="0" algn="just">
              <a:spcBef>
                <a:spcPts val="1200"/>
              </a:spcBef>
              <a:spcAft>
                <a:spcPts val="1200"/>
              </a:spcAft>
              <a:buNone/>
            </a:pPr>
            <a:r>
              <a:rPr lang="pt-BR" sz="1800"/>
              <a:t>12 - A intervalos regulares, a equipe se avalia para ver como tornar-se mais eficiente, então sintoniza e ajusta seu comportamento de acordo</a:t>
            </a:r>
            <a:endParaRPr sz="1800"/>
          </a:p>
        </p:txBody>
      </p:sp>
      <p:sp>
        <p:nvSpPr>
          <p:cNvPr id="190" name="Google Shape;190;p29"/>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Modelos de Processos Ágeis</a:t>
            </a:r>
            <a:endParaRPr/>
          </a:p>
        </p:txBody>
      </p:sp>
      <p:sp>
        <p:nvSpPr>
          <p:cNvPr id="196" name="Google Shape;196;p30"/>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lnSpcReduction="20000"/>
          </a:bodyPr>
          <a:lstStyle/>
          <a:p>
            <a:pPr indent="0" lvl="0" marL="0" rtl="0" algn="just">
              <a:spcBef>
                <a:spcPts val="0"/>
              </a:spcBef>
              <a:spcAft>
                <a:spcPts val="0"/>
              </a:spcAft>
              <a:buNone/>
            </a:pPr>
            <a:r>
              <a:rPr i="1" lang="pt-BR" sz="1800"/>
              <a:t>Extreme Programming</a:t>
            </a:r>
            <a:r>
              <a:rPr lang="pt-BR" sz="1800"/>
              <a:t> - XP</a:t>
            </a:r>
            <a:endParaRPr sz="1800"/>
          </a:p>
          <a:p>
            <a:pPr indent="0" lvl="0" marL="0" rtl="0" algn="just">
              <a:spcBef>
                <a:spcPts val="1200"/>
              </a:spcBef>
              <a:spcAft>
                <a:spcPts val="0"/>
              </a:spcAft>
              <a:buNone/>
            </a:pPr>
            <a:r>
              <a:rPr lang="pt-BR" sz="1800"/>
              <a:t>Scrum</a:t>
            </a:r>
            <a:endParaRPr sz="1800"/>
          </a:p>
          <a:p>
            <a:pPr indent="0" lvl="0" marL="0" rtl="0" algn="just">
              <a:spcBef>
                <a:spcPts val="1200"/>
              </a:spcBef>
              <a:spcAft>
                <a:spcPts val="0"/>
              </a:spcAft>
              <a:buNone/>
            </a:pPr>
            <a:r>
              <a:rPr lang="pt-BR" sz="1800"/>
              <a:t>Método de desenvolvimento de sistemas dinâmicos</a:t>
            </a:r>
            <a:r>
              <a:rPr i="1" lang="pt-BR" sz="1800"/>
              <a:t> (Dynamic Systems Development Method, DSDM)</a:t>
            </a:r>
            <a:endParaRPr sz="1800"/>
          </a:p>
          <a:p>
            <a:pPr indent="0" lvl="0" marL="0" rtl="0" algn="just">
              <a:spcBef>
                <a:spcPts val="1200"/>
              </a:spcBef>
              <a:spcAft>
                <a:spcPts val="1200"/>
              </a:spcAft>
              <a:buNone/>
            </a:pPr>
            <a:r>
              <a:rPr lang="pt-BR" sz="1800"/>
              <a:t>Desenvolvimento dirigido a Funcionalidades (</a:t>
            </a:r>
            <a:r>
              <a:rPr i="1" lang="pt-BR" sz="1800"/>
              <a:t>Feature Drive Development, FDD</a:t>
            </a:r>
            <a:r>
              <a:rPr lang="pt-BR" sz="1800"/>
              <a:t>)</a:t>
            </a:r>
            <a:endParaRPr sz="1800"/>
          </a:p>
        </p:txBody>
      </p:sp>
      <p:sp>
        <p:nvSpPr>
          <p:cNvPr id="197" name="Google Shape;197;p30"/>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Extreme Programming - XP</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pt-BR"/>
              <a:t>Extreme Programming</a:t>
            </a:r>
            <a:r>
              <a:rPr lang="pt-BR"/>
              <a:t> - XP</a:t>
            </a:r>
            <a:endParaRPr/>
          </a:p>
          <a:p>
            <a:pPr indent="0" lvl="0" marL="0" rtl="0" algn="l">
              <a:spcBef>
                <a:spcPts val="0"/>
              </a:spcBef>
              <a:spcAft>
                <a:spcPts val="0"/>
              </a:spcAft>
              <a:buNone/>
            </a:pPr>
            <a:r>
              <a:t/>
            </a:r>
            <a:endParaRPr/>
          </a:p>
        </p:txBody>
      </p:sp>
      <p:sp>
        <p:nvSpPr>
          <p:cNvPr id="208" name="Google Shape;208;p32"/>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A </a:t>
            </a:r>
            <a:r>
              <a:rPr i="1" lang="pt-BR" sz="1800"/>
              <a:t>Extreme Programming</a:t>
            </a:r>
            <a:r>
              <a:rPr lang="pt-BR" sz="1800"/>
              <a:t> (programação extrema) emprega uma abordagem orientada a objetos como seu paradigma de desenvolvimento preferido e envolve um conjunto de regras e práticas constantes no contexto de quatro atividades metodológicas: planejamento, projeto, codificação e testes. </a:t>
            </a:r>
            <a:endParaRPr sz="1800"/>
          </a:p>
        </p:txBody>
      </p:sp>
      <p:sp>
        <p:nvSpPr>
          <p:cNvPr id="209" name="Google Shape;209;p32"/>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pt-BR"/>
              <a:t>Extreme Programming</a:t>
            </a:r>
            <a:r>
              <a:rPr lang="pt-BR"/>
              <a:t> - XP</a:t>
            </a:r>
            <a:endParaRPr/>
          </a:p>
        </p:txBody>
      </p:sp>
      <p:sp>
        <p:nvSpPr>
          <p:cNvPr id="215" name="Google Shape;215;p33"/>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t/>
            </a:r>
            <a:endParaRPr sz="1800"/>
          </a:p>
        </p:txBody>
      </p:sp>
      <p:sp>
        <p:nvSpPr>
          <p:cNvPr id="216" name="Google Shape;216;p33"/>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217" name="Google Shape;217;p33"/>
          <p:cNvPicPr preferRelativeResize="0"/>
          <p:nvPr/>
        </p:nvPicPr>
        <p:blipFill>
          <a:blip r:embed="rId3">
            <a:alphaModFix/>
          </a:blip>
          <a:stretch>
            <a:fillRect/>
          </a:stretch>
        </p:blipFill>
        <p:spPr>
          <a:xfrm>
            <a:off x="2256125" y="1939850"/>
            <a:ext cx="4731826" cy="3097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pt-BR"/>
              <a:t>Extreme Programming</a:t>
            </a:r>
            <a:r>
              <a:rPr lang="pt-BR"/>
              <a:t> - XP</a:t>
            </a:r>
            <a:endParaRPr/>
          </a:p>
          <a:p>
            <a:pPr indent="0" lvl="0" marL="0" rtl="0" algn="l">
              <a:spcBef>
                <a:spcPts val="0"/>
              </a:spcBef>
              <a:spcAft>
                <a:spcPts val="0"/>
              </a:spcAft>
              <a:buNone/>
            </a:pPr>
            <a:r>
              <a:t/>
            </a:r>
            <a:endParaRPr/>
          </a:p>
        </p:txBody>
      </p:sp>
      <p:sp>
        <p:nvSpPr>
          <p:cNvPr id="223" name="Google Shape;223;p34"/>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b="1" lang="pt-BR" sz="1800"/>
              <a:t>Planejamento : </a:t>
            </a:r>
            <a:r>
              <a:rPr lang="pt-BR" sz="1800"/>
              <a:t>A atividade de planejamento (também denominada o jogo do planejamento) se inicia com a atividade de ouvir uma atividade de </a:t>
            </a:r>
            <a:r>
              <a:rPr b="1" lang="pt-BR" sz="1800"/>
              <a:t>levantamento de requisitos </a:t>
            </a:r>
            <a:r>
              <a:rPr lang="pt-BR" sz="1800"/>
              <a:t>que capacita os membros técnicos da equipe XP a entender o ambiente de negócios do software e possibilita que se consiga ter uma percepção ampla sobre os resultados solicitados, fatores principais e funcionalidade.</a:t>
            </a:r>
            <a:endParaRPr sz="1800"/>
          </a:p>
        </p:txBody>
      </p:sp>
      <p:sp>
        <p:nvSpPr>
          <p:cNvPr id="224" name="Google Shape;224;p34"/>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pt-BR"/>
              <a:t>Extreme Programming</a:t>
            </a:r>
            <a:r>
              <a:rPr lang="pt-BR"/>
              <a:t> - XP</a:t>
            </a:r>
            <a:endParaRPr/>
          </a:p>
          <a:p>
            <a:pPr indent="0" lvl="0" marL="0" rtl="0" algn="l">
              <a:spcBef>
                <a:spcPts val="0"/>
              </a:spcBef>
              <a:spcAft>
                <a:spcPts val="0"/>
              </a:spcAft>
              <a:buNone/>
            </a:pPr>
            <a:r>
              <a:t/>
            </a:r>
            <a:endParaRPr/>
          </a:p>
        </p:txBody>
      </p:sp>
      <p:sp>
        <p:nvSpPr>
          <p:cNvPr id="230" name="Google Shape;230;p35"/>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A atividade de “Ouvir” conduz à criação de um conjunto de “</a:t>
            </a:r>
            <a:r>
              <a:rPr b="1" lang="pt-BR" sz="1800"/>
              <a:t>histórias</a:t>
            </a:r>
            <a:r>
              <a:rPr lang="pt-BR" sz="1800"/>
              <a:t>” (também denominado histórias de usuários) que descreve o resultado, as características e a funcionalidade requisitados para o software a ser construído.</a:t>
            </a:r>
            <a:endParaRPr sz="1800"/>
          </a:p>
        </p:txBody>
      </p:sp>
      <p:sp>
        <p:nvSpPr>
          <p:cNvPr id="231" name="Google Shape;231;p35"/>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pt-BR"/>
              <a:t>Extreme Programming</a:t>
            </a:r>
            <a:r>
              <a:rPr lang="pt-BR"/>
              <a:t> - XP</a:t>
            </a:r>
            <a:endParaRPr/>
          </a:p>
          <a:p>
            <a:pPr indent="0" lvl="0" marL="0" rtl="0" algn="l">
              <a:spcBef>
                <a:spcPts val="0"/>
              </a:spcBef>
              <a:spcAft>
                <a:spcPts val="0"/>
              </a:spcAft>
              <a:buNone/>
            </a:pPr>
            <a:r>
              <a:t/>
            </a:r>
            <a:endParaRPr/>
          </a:p>
        </p:txBody>
      </p:sp>
      <p:sp>
        <p:nvSpPr>
          <p:cNvPr id="237" name="Google Shape;237;p36"/>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lnSpcReduction="10000"/>
          </a:bodyPr>
          <a:lstStyle/>
          <a:p>
            <a:pPr indent="457200" lvl="0" marL="0" rtl="0" algn="just">
              <a:spcBef>
                <a:spcPts val="0"/>
              </a:spcBef>
              <a:spcAft>
                <a:spcPts val="1200"/>
              </a:spcAft>
              <a:buNone/>
            </a:pPr>
            <a:r>
              <a:rPr b="1" lang="pt-BR" sz="1800"/>
              <a:t>Projeto: </a:t>
            </a:r>
            <a:r>
              <a:rPr lang="pt-BR" sz="1800"/>
              <a:t>O projeto XP segue rigorosamente o princípio </a:t>
            </a:r>
            <a:r>
              <a:rPr b="1" lang="pt-BR" sz="1800"/>
              <a:t>KIS</a:t>
            </a:r>
            <a:r>
              <a:rPr lang="pt-BR" sz="1800"/>
              <a:t> (</a:t>
            </a:r>
            <a:r>
              <a:rPr i="1" lang="pt-BR" sz="1800"/>
              <a:t>keep it simple</a:t>
            </a:r>
            <a:r>
              <a:rPr lang="pt-BR" sz="1800"/>
              <a:t>, ou seja, </a:t>
            </a:r>
            <a:r>
              <a:rPr lang="pt-BR" sz="1800"/>
              <a:t>preserva</a:t>
            </a:r>
            <a:r>
              <a:rPr lang="pt-BR" sz="1800"/>
              <a:t> a simplicidade). É preferível sempre um projeto simples do que uma representação mais complexa. Como acréscimo, o projeto oferece um guia de implementação para uma história à medida que é escrita nada mais, nada menos. O projeto de funcionalidade extra (pelo fato de o desenvolvedor supor que ela será necessária no futuro) é desencorajado.</a:t>
            </a:r>
            <a:endParaRPr sz="1800"/>
          </a:p>
        </p:txBody>
      </p:sp>
      <p:sp>
        <p:nvSpPr>
          <p:cNvPr id="238" name="Google Shape;238;p36"/>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pt-BR"/>
              <a:t>Extreme Programming</a:t>
            </a:r>
            <a:r>
              <a:rPr lang="pt-BR"/>
              <a:t> - XP</a:t>
            </a:r>
            <a:endParaRPr/>
          </a:p>
          <a:p>
            <a:pPr indent="0" lvl="0" marL="0" rtl="0" algn="l">
              <a:spcBef>
                <a:spcPts val="0"/>
              </a:spcBef>
              <a:spcAft>
                <a:spcPts val="0"/>
              </a:spcAft>
              <a:buNone/>
            </a:pPr>
            <a:r>
              <a:t/>
            </a:r>
            <a:endParaRPr/>
          </a:p>
        </p:txBody>
      </p:sp>
      <p:sp>
        <p:nvSpPr>
          <p:cNvPr id="244" name="Google Shape;244;p37"/>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b="1" lang="pt-BR" sz="1800"/>
              <a:t>Projeto: </a:t>
            </a:r>
            <a:r>
              <a:rPr lang="pt-BR" sz="1800"/>
              <a:t>Como o projeto XP não usa praticamente nenhuma notação e produz poucos, se algum, artefatos, além dos cartões CRC e soluções pontuais, o projeto é visto como algo transitório que pode e deve ser continuamente modificado conforme a construção prossegue.</a:t>
            </a:r>
            <a:endParaRPr sz="1800"/>
          </a:p>
        </p:txBody>
      </p:sp>
      <p:sp>
        <p:nvSpPr>
          <p:cNvPr id="245" name="Google Shape;245;p37"/>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pt-BR"/>
              <a:t>Extreme Programming</a:t>
            </a:r>
            <a:r>
              <a:rPr lang="pt-BR"/>
              <a:t> - XP</a:t>
            </a:r>
            <a:endParaRPr/>
          </a:p>
        </p:txBody>
      </p:sp>
      <p:sp>
        <p:nvSpPr>
          <p:cNvPr id="251" name="Google Shape;251;p38"/>
          <p:cNvSpPr txBox="1"/>
          <p:nvPr>
            <p:ph idx="1" type="body"/>
          </p:nvPr>
        </p:nvSpPr>
        <p:spPr>
          <a:xfrm>
            <a:off x="729450" y="2078875"/>
            <a:ext cx="3035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1200"/>
              </a:spcAft>
              <a:buNone/>
            </a:pPr>
            <a:r>
              <a:rPr i="1" lang="pt-BR" sz="1800"/>
              <a:t>Class Responsibilities and Collaborators</a:t>
            </a:r>
            <a:endParaRPr i="1" sz="1800"/>
          </a:p>
        </p:txBody>
      </p:sp>
      <p:sp>
        <p:nvSpPr>
          <p:cNvPr id="252" name="Google Shape;252;p38"/>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253" name="Google Shape;253;p38"/>
          <p:cNvPicPr preferRelativeResize="0"/>
          <p:nvPr/>
        </p:nvPicPr>
        <p:blipFill>
          <a:blip r:embed="rId3">
            <a:alphaModFix/>
          </a:blip>
          <a:stretch>
            <a:fillRect/>
          </a:stretch>
        </p:blipFill>
        <p:spPr>
          <a:xfrm>
            <a:off x="3874397" y="1761972"/>
            <a:ext cx="5269599" cy="32030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pt-BR"/>
              <a:t>Extreme Programming</a:t>
            </a:r>
            <a:r>
              <a:rPr lang="pt-BR"/>
              <a:t> - XP</a:t>
            </a:r>
            <a:endParaRPr/>
          </a:p>
          <a:p>
            <a:pPr indent="0" lvl="0" marL="0" rtl="0" algn="l">
              <a:spcBef>
                <a:spcPts val="0"/>
              </a:spcBef>
              <a:spcAft>
                <a:spcPts val="0"/>
              </a:spcAft>
              <a:buNone/>
            </a:pPr>
            <a:r>
              <a:t/>
            </a:r>
            <a:endParaRPr/>
          </a:p>
        </p:txBody>
      </p:sp>
      <p:sp>
        <p:nvSpPr>
          <p:cNvPr id="259" name="Google Shape;259;p39"/>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b="1" lang="pt-BR" sz="1800"/>
              <a:t>Codificação:</a:t>
            </a:r>
            <a:r>
              <a:rPr b="1" lang="pt-BR" sz="1800"/>
              <a:t> </a:t>
            </a:r>
            <a:r>
              <a:rPr lang="pt-BR" sz="1800"/>
              <a:t>Depois de desenvolvidas as histórias e o trabalho preliminar de elaboração do projeto ter sido feito, a equipe não passa para a codificação, mas sim, desenvolve uma série de testes de unidades que exercitam cada uma das histórias a ser incluídas na versão corrente (incremento de software).</a:t>
            </a:r>
            <a:endParaRPr sz="1800"/>
          </a:p>
        </p:txBody>
      </p:sp>
      <p:sp>
        <p:nvSpPr>
          <p:cNvPr id="260" name="Google Shape;260;p39"/>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pt-BR"/>
              <a:t>Extreme Programming</a:t>
            </a:r>
            <a:r>
              <a:rPr lang="pt-BR"/>
              <a:t> - XP</a:t>
            </a:r>
            <a:endParaRPr/>
          </a:p>
          <a:p>
            <a:pPr indent="0" lvl="0" marL="0" rtl="0" algn="l">
              <a:spcBef>
                <a:spcPts val="0"/>
              </a:spcBef>
              <a:spcAft>
                <a:spcPts val="0"/>
              </a:spcAft>
              <a:buNone/>
            </a:pPr>
            <a:r>
              <a:t/>
            </a:r>
            <a:endParaRPr/>
          </a:p>
        </p:txBody>
      </p:sp>
      <p:sp>
        <p:nvSpPr>
          <p:cNvPr id="266" name="Google Shape;266;p40"/>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b="1" lang="pt-BR" sz="1800"/>
              <a:t>Codificação: </a:t>
            </a:r>
            <a:r>
              <a:rPr lang="pt-BR" sz="1800"/>
              <a:t>Uma vez criado o teste de unidades, o desenvolvedor poderá melhor focar-se no que deve ser implementado para ser aprovado no teste. Nada estranho é adicionado (KIS). Estando o código completo, este pode ser testado em unidade imediatamente, e, dessa forma, prover, instantaneamente, feedback para os desenvolvedores.</a:t>
            </a:r>
            <a:endParaRPr sz="1800"/>
          </a:p>
        </p:txBody>
      </p:sp>
      <p:sp>
        <p:nvSpPr>
          <p:cNvPr id="267" name="Google Shape;267;p40"/>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pt-BR"/>
              <a:t>Extreme Programming</a:t>
            </a:r>
            <a:r>
              <a:rPr lang="pt-BR"/>
              <a:t> - XP</a:t>
            </a:r>
            <a:endParaRPr/>
          </a:p>
          <a:p>
            <a:pPr indent="0" lvl="0" marL="0" rtl="0" algn="l">
              <a:spcBef>
                <a:spcPts val="0"/>
              </a:spcBef>
              <a:spcAft>
                <a:spcPts val="0"/>
              </a:spcAft>
              <a:buNone/>
            </a:pPr>
            <a:r>
              <a:t/>
            </a:r>
            <a:endParaRPr/>
          </a:p>
        </p:txBody>
      </p:sp>
      <p:sp>
        <p:nvSpPr>
          <p:cNvPr id="273" name="Google Shape;273;p41"/>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b="1" lang="pt-BR" sz="1800"/>
              <a:t>Codificação: </a:t>
            </a:r>
            <a:r>
              <a:rPr lang="pt-BR" sz="1800"/>
              <a:t>Um conceito-chave na atividade de codificação (e um dos mais discutidos aspectos da XP) é a programação em dupla. Isso fornece um mecanismo para resolução de problemas em tempo real (</a:t>
            </a:r>
            <a:r>
              <a:rPr b="1" lang="pt-BR" sz="1800"/>
              <a:t>duas cabeças normalmente funcionam melhor do que uma</a:t>
            </a:r>
            <a:r>
              <a:rPr lang="pt-BR" sz="1800"/>
              <a:t>) e garantia da qualidade em tempo real (</a:t>
            </a:r>
            <a:r>
              <a:rPr b="1" lang="pt-BR" sz="1800"/>
              <a:t>o código é revisto à medida que é criado</a:t>
            </a:r>
            <a:r>
              <a:rPr lang="pt-BR" sz="1800"/>
              <a:t>).</a:t>
            </a:r>
            <a:endParaRPr sz="1800"/>
          </a:p>
        </p:txBody>
      </p:sp>
      <p:sp>
        <p:nvSpPr>
          <p:cNvPr id="274" name="Google Shape;274;p41"/>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pt-BR"/>
              <a:t>Extreme Programming</a:t>
            </a:r>
            <a:r>
              <a:rPr lang="pt-BR"/>
              <a:t> - XP</a:t>
            </a:r>
            <a:endParaRPr/>
          </a:p>
          <a:p>
            <a:pPr indent="0" lvl="0" marL="0" rtl="0" algn="l">
              <a:spcBef>
                <a:spcPts val="0"/>
              </a:spcBef>
              <a:spcAft>
                <a:spcPts val="0"/>
              </a:spcAft>
              <a:buNone/>
            </a:pPr>
            <a:r>
              <a:t/>
            </a:r>
            <a:endParaRPr/>
          </a:p>
        </p:txBody>
      </p:sp>
      <p:sp>
        <p:nvSpPr>
          <p:cNvPr id="280" name="Google Shape;280;p42"/>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b="1" lang="pt-BR" sz="1800"/>
              <a:t>Testes: </a:t>
            </a:r>
            <a:r>
              <a:rPr lang="pt-BR" sz="1800"/>
              <a:t>Já foi observado que a criação de testes de unidade, antes de começar a codificação, é um elemento-chave da abordagem XP. Os testes de unidade criados devem ser implementados usando-se uma metodologia que os capacite a ser automatizados (assim, poderão ser executados fácil e repetidamente)</a:t>
            </a:r>
            <a:endParaRPr sz="1800"/>
          </a:p>
        </p:txBody>
      </p:sp>
      <p:sp>
        <p:nvSpPr>
          <p:cNvPr id="281" name="Google Shape;281;p42"/>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pt-BR"/>
              <a:t>Extreme Programming</a:t>
            </a:r>
            <a:r>
              <a:rPr lang="pt-BR"/>
              <a:t> - XP</a:t>
            </a:r>
            <a:endParaRPr/>
          </a:p>
          <a:p>
            <a:pPr indent="0" lvl="0" marL="0" rtl="0" algn="l">
              <a:spcBef>
                <a:spcPts val="0"/>
              </a:spcBef>
              <a:spcAft>
                <a:spcPts val="0"/>
              </a:spcAft>
              <a:buNone/>
            </a:pPr>
            <a:r>
              <a:t/>
            </a:r>
            <a:endParaRPr/>
          </a:p>
        </p:txBody>
      </p:sp>
      <p:sp>
        <p:nvSpPr>
          <p:cNvPr id="287" name="Google Shape;287;p43"/>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b="1" lang="pt-BR" sz="1800"/>
              <a:t>Testes: </a:t>
            </a:r>
            <a:r>
              <a:rPr lang="pt-BR" sz="1800"/>
              <a:t>Os testes de aceitação da XP, também denominados testes de cliente, são especificados pelo cliente e mantêm o foco nas características e na funcionalidade do sistema total que são visíveis e que podem ser revistas pelo cliente</a:t>
            </a:r>
            <a:endParaRPr sz="1800"/>
          </a:p>
        </p:txBody>
      </p:sp>
      <p:sp>
        <p:nvSpPr>
          <p:cNvPr id="288" name="Google Shape;288;p43"/>
          <p:cNvSpPr txBox="1"/>
          <p:nvPr/>
        </p:nvSpPr>
        <p:spPr>
          <a:xfrm>
            <a:off x="856075" y="4407700"/>
            <a:ext cx="759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Scrum</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Scrum</a:t>
            </a:r>
            <a:endParaRPr/>
          </a:p>
        </p:txBody>
      </p:sp>
      <p:sp>
        <p:nvSpPr>
          <p:cNvPr id="299" name="Google Shape;299;p45"/>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b="1" lang="pt-BR" sz="1800"/>
              <a:t>Scrum </a:t>
            </a:r>
            <a:r>
              <a:rPr lang="pt-BR" sz="1800"/>
              <a:t>(o nome provém de uma atividade que ocorre durante a partida de rugby) é um método de desenvolvimento ágil de software concebido por Jeff Sutherland e sua equipe de desenvolvimento no início dos anos 1990. Mais recentemente, foram realizados desenvolvimentos adicionais nos métodos gráficos Scrum por Schwaber e Beedle [Sch01a].</a:t>
            </a:r>
            <a:endParaRPr sz="1800"/>
          </a:p>
        </p:txBody>
      </p:sp>
      <p:sp>
        <p:nvSpPr>
          <p:cNvPr id="300" name="Google Shape;300;p45"/>
          <p:cNvSpPr txBox="1"/>
          <p:nvPr/>
        </p:nvSpPr>
        <p:spPr>
          <a:xfrm>
            <a:off x="584900" y="4339975"/>
            <a:ext cx="8331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t-BR">
                <a:latin typeface="Lato"/>
                <a:ea typeface="Lato"/>
                <a:cs typeface="Lato"/>
                <a:sym typeface="Lato"/>
              </a:rPr>
              <a:t>Scrum - rugby: Um grupo de jogadores faz uma formação em torno da bola e seus companheiros de equipe trabalham juntos (às vezes, de forma violenta!) para avançar com a bola em direção ao fundo do campo ( Ex: </a:t>
            </a:r>
            <a:r>
              <a:rPr lang="pt-BR" u="sng">
                <a:solidFill>
                  <a:schemeClr val="hlink"/>
                </a:solidFill>
                <a:latin typeface="Lato"/>
                <a:ea typeface="Lato"/>
                <a:cs typeface="Lato"/>
                <a:sym typeface="Lato"/>
                <a:hlinkClick r:id="rId3"/>
              </a:rPr>
              <a:t>https://www.youtube.com/watch?v=8UWIdOwniJ4&amp;ab_channel=WorldRugby</a:t>
            </a:r>
            <a:r>
              <a:rPr lang="pt-BR">
                <a:latin typeface="Lato"/>
                <a:ea typeface="Lato"/>
                <a:cs typeface="Lato"/>
                <a:sym typeface="Lato"/>
              </a:rPr>
              <a:t>)</a:t>
            </a:r>
            <a:endParaRPr>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Scrum</a:t>
            </a:r>
            <a:endParaRPr/>
          </a:p>
        </p:txBody>
      </p:sp>
      <p:sp>
        <p:nvSpPr>
          <p:cNvPr id="306" name="Google Shape;306;p46"/>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t/>
            </a:r>
            <a:endParaRPr b="1" sz="1800"/>
          </a:p>
        </p:txBody>
      </p:sp>
      <p:pic>
        <p:nvPicPr>
          <p:cNvPr id="307" name="Google Shape;307;p46"/>
          <p:cNvPicPr preferRelativeResize="0"/>
          <p:nvPr/>
        </p:nvPicPr>
        <p:blipFill>
          <a:blip r:embed="rId3">
            <a:alphaModFix/>
          </a:blip>
          <a:stretch>
            <a:fillRect/>
          </a:stretch>
        </p:blipFill>
        <p:spPr>
          <a:xfrm>
            <a:off x="649500" y="518600"/>
            <a:ext cx="7848600" cy="45148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Scrum</a:t>
            </a:r>
            <a:endParaRPr/>
          </a:p>
        </p:txBody>
      </p:sp>
      <p:sp>
        <p:nvSpPr>
          <p:cNvPr id="313" name="Google Shape;313;p47"/>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Os princípios do Scrum são consistentes com o manifesto ágil e são usados para orientar as atividades de desenvolvimento dentro de um processo que incorpora as seguintes atividades estruturais: </a:t>
            </a:r>
            <a:r>
              <a:rPr b="1" lang="pt-BR" sz="1800"/>
              <a:t>requisitos, análise, projeto, evolução e entrega.</a:t>
            </a:r>
            <a:endParaRPr b="1" sz="1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Scrum</a:t>
            </a:r>
            <a:endParaRPr/>
          </a:p>
        </p:txBody>
      </p:sp>
      <p:sp>
        <p:nvSpPr>
          <p:cNvPr id="319" name="Google Shape;319;p48"/>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Em cada atividade metodológica, ocorrem tarefas a realizar dentro de um padrão de processo (discutido no parágrafo a seguir) chamado</a:t>
            </a:r>
            <a:r>
              <a:rPr b="1" lang="pt-BR" sz="1800"/>
              <a:t> </a:t>
            </a:r>
            <a:r>
              <a:rPr b="1" i="1" lang="pt-BR" sz="1800"/>
              <a:t>sprint</a:t>
            </a:r>
            <a:r>
              <a:rPr lang="pt-BR" sz="1800"/>
              <a:t>. O trabalho realizado dentro de um </a:t>
            </a:r>
            <a:r>
              <a:rPr b="1" i="1" lang="pt-BR" sz="1800"/>
              <a:t>sprint</a:t>
            </a:r>
            <a:r>
              <a:rPr lang="pt-BR" sz="1800"/>
              <a:t> é adaptado ao problema em questão e definido, e muitas vezes modificado em tempo real, pela equipe Scrum</a:t>
            </a:r>
            <a:endParaRPr b="1" sz="18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Scrum</a:t>
            </a:r>
            <a:endParaRPr/>
          </a:p>
        </p:txBody>
      </p:sp>
      <p:sp>
        <p:nvSpPr>
          <p:cNvPr id="325" name="Google Shape;325;p49"/>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lnSpcReduction="20000"/>
          </a:bodyPr>
          <a:lstStyle/>
          <a:p>
            <a:pPr indent="457200" lvl="0" marL="0" rtl="0" algn="just">
              <a:spcBef>
                <a:spcPts val="0"/>
              </a:spcBef>
              <a:spcAft>
                <a:spcPts val="0"/>
              </a:spcAft>
              <a:buNone/>
            </a:pPr>
            <a:r>
              <a:rPr lang="pt-BR" sz="1800"/>
              <a:t>O Scrum enfatiza o uso de um conjunto de padrões de processos de software que provaram ser eficazes para projetos com prazos de entrega apertados, requisitos mutáveis e críticos de negócio. </a:t>
            </a:r>
            <a:endParaRPr sz="1800"/>
          </a:p>
          <a:p>
            <a:pPr indent="-342900" lvl="0" marL="457200" rtl="0" algn="just">
              <a:spcBef>
                <a:spcPts val="1200"/>
              </a:spcBef>
              <a:spcAft>
                <a:spcPts val="0"/>
              </a:spcAft>
              <a:buSzPts val="1800"/>
              <a:buChar char="●"/>
            </a:pPr>
            <a:r>
              <a:rPr lang="pt-BR" sz="1800"/>
              <a:t>Registro pendente de trabalhos (</a:t>
            </a:r>
            <a:r>
              <a:rPr i="1" lang="pt-BR" sz="1800"/>
              <a:t>Backlog</a:t>
            </a:r>
            <a:r>
              <a:rPr lang="pt-BR" sz="1800"/>
              <a:t>)</a:t>
            </a:r>
            <a:endParaRPr sz="1800"/>
          </a:p>
          <a:p>
            <a:pPr indent="-342900" lvl="0" marL="457200" rtl="0" algn="just">
              <a:spcBef>
                <a:spcPts val="0"/>
              </a:spcBef>
              <a:spcAft>
                <a:spcPts val="0"/>
              </a:spcAft>
              <a:buSzPts val="1800"/>
              <a:buChar char="●"/>
            </a:pPr>
            <a:r>
              <a:rPr lang="pt-BR" sz="1800"/>
              <a:t>Urgências (corridas de curta distância) </a:t>
            </a:r>
            <a:r>
              <a:rPr i="1" lang="pt-BR" sz="1800"/>
              <a:t>sprints</a:t>
            </a:r>
            <a:endParaRPr i="1" sz="1800"/>
          </a:p>
          <a:p>
            <a:pPr indent="-342900" lvl="0" marL="457200" rtl="0" algn="just">
              <a:spcBef>
                <a:spcPts val="0"/>
              </a:spcBef>
              <a:spcAft>
                <a:spcPts val="0"/>
              </a:spcAft>
              <a:buSzPts val="1800"/>
              <a:buChar char="●"/>
            </a:pPr>
            <a:r>
              <a:rPr lang="pt-BR" sz="1800"/>
              <a:t>Reuniões Scrum</a:t>
            </a:r>
            <a:endParaRPr sz="1800"/>
          </a:p>
          <a:p>
            <a:pPr indent="-342900" lvl="0" marL="457200" rtl="0" algn="just">
              <a:spcBef>
                <a:spcPts val="0"/>
              </a:spcBef>
              <a:spcAft>
                <a:spcPts val="0"/>
              </a:spcAft>
              <a:buSzPts val="1800"/>
              <a:buChar char="●"/>
            </a:pPr>
            <a:r>
              <a:rPr lang="pt-BR" sz="1800"/>
              <a:t>Demos</a:t>
            </a:r>
            <a:endParaRPr sz="1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Scrum</a:t>
            </a:r>
            <a:endParaRPr/>
          </a:p>
        </p:txBody>
      </p:sp>
      <p:sp>
        <p:nvSpPr>
          <p:cNvPr id="331" name="Google Shape;331;p50"/>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1200"/>
              </a:spcAft>
              <a:buNone/>
            </a:pPr>
            <a:r>
              <a:rPr b="1" lang="pt-BR" sz="1800"/>
              <a:t>Registro pendente de trabalhos (</a:t>
            </a:r>
            <a:r>
              <a:rPr b="1" i="1" lang="pt-BR" sz="1800"/>
              <a:t>Backlog</a:t>
            </a:r>
            <a:r>
              <a:rPr b="1" lang="pt-BR" sz="1800"/>
              <a:t>)</a:t>
            </a:r>
            <a:r>
              <a:rPr lang="pt-BR" sz="1800"/>
              <a:t> — uma lista com prioridades dos requisitos ou funcionalidades do projeto que fornecem valor comercial ao cliente. Os itens podem ser adicionados a esse registro em qualquer momento (é assim que as alterações são introduzidas). O gerente de produto avalia o registro e atualiza as prioridades conforme requisitado.</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Scrum</a:t>
            </a:r>
            <a:endParaRPr/>
          </a:p>
        </p:txBody>
      </p:sp>
      <p:sp>
        <p:nvSpPr>
          <p:cNvPr id="337" name="Google Shape;337;p51"/>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1200"/>
              </a:spcAft>
              <a:buNone/>
            </a:pPr>
            <a:r>
              <a:rPr b="1" lang="pt-BR" sz="1800"/>
              <a:t>Urgências (corridas de curta distância) sprints </a:t>
            </a:r>
            <a:r>
              <a:rPr lang="pt-BR" sz="1800"/>
              <a:t>— consistem de unidades de trabalho solicitadas para atingir um requisito estabelecido no registro de trabalho (</a:t>
            </a:r>
            <a:r>
              <a:rPr i="1" lang="pt-BR" sz="1800"/>
              <a:t>backlog</a:t>
            </a:r>
            <a:r>
              <a:rPr lang="pt-BR" sz="1800"/>
              <a:t>) e que precisa ser ajustado dentro de um prazo já fechado (janela de tempo)(1 a 4 semanas).</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Scrum</a:t>
            </a:r>
            <a:endParaRPr/>
          </a:p>
        </p:txBody>
      </p:sp>
      <p:sp>
        <p:nvSpPr>
          <p:cNvPr id="343" name="Google Shape;343;p52"/>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0"/>
              </a:spcAft>
              <a:buNone/>
            </a:pPr>
            <a:r>
              <a:rPr b="1" lang="pt-BR" sz="1800"/>
              <a:t>Reuniões Scrum</a:t>
            </a:r>
            <a:r>
              <a:rPr lang="pt-BR" sz="1800"/>
              <a:t>: são reuniões curtas (tipicamente 15 minutos), realizadas diariamente pela equipe Scrum. São feitas três perguntas-chave e respondidas por todos os membros da equipe : </a:t>
            </a:r>
            <a:endParaRPr sz="1800"/>
          </a:p>
          <a:p>
            <a:pPr indent="-342900" lvl="0" marL="457200" rtl="0" algn="just">
              <a:spcBef>
                <a:spcPts val="1200"/>
              </a:spcBef>
              <a:spcAft>
                <a:spcPts val="0"/>
              </a:spcAft>
              <a:buSzPts val="1800"/>
              <a:buChar char="●"/>
            </a:pPr>
            <a:r>
              <a:rPr lang="pt-BR" sz="1800"/>
              <a:t>O que você realizou desde a última reunião de equipe? </a:t>
            </a:r>
            <a:endParaRPr sz="1800"/>
          </a:p>
          <a:p>
            <a:pPr indent="-342900" lvl="0" marL="457200" rtl="0" algn="just">
              <a:spcBef>
                <a:spcPts val="0"/>
              </a:spcBef>
              <a:spcAft>
                <a:spcPts val="0"/>
              </a:spcAft>
              <a:buSzPts val="1800"/>
              <a:buChar char="●"/>
            </a:pPr>
            <a:r>
              <a:rPr lang="pt-BR" sz="1800"/>
              <a:t>Quais obstáculos está encontrando? </a:t>
            </a:r>
            <a:endParaRPr sz="1800"/>
          </a:p>
          <a:p>
            <a:pPr indent="-342900" lvl="0" marL="457200" rtl="0" algn="just">
              <a:spcBef>
                <a:spcPts val="0"/>
              </a:spcBef>
              <a:spcAft>
                <a:spcPts val="0"/>
              </a:spcAft>
              <a:buSzPts val="1800"/>
              <a:buChar char="●"/>
            </a:pPr>
            <a:r>
              <a:rPr lang="pt-BR" sz="1800"/>
              <a:t>O que planeja realizar até a próxima reunião da equipe?</a:t>
            </a: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Scrum</a:t>
            </a:r>
            <a:endParaRPr/>
          </a:p>
        </p:txBody>
      </p:sp>
      <p:sp>
        <p:nvSpPr>
          <p:cNvPr id="349" name="Google Shape;349;p53"/>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0"/>
              </a:spcAft>
              <a:buNone/>
            </a:pPr>
            <a:r>
              <a:rPr b="1" lang="pt-BR" sz="1800"/>
              <a:t>Reuniões Scrum</a:t>
            </a:r>
            <a:r>
              <a:rPr lang="pt-BR" sz="1800"/>
              <a:t>: </a:t>
            </a:r>
            <a:endParaRPr sz="1800"/>
          </a:p>
          <a:p>
            <a:pPr indent="0" lvl="0" marL="0" rtl="0" algn="just">
              <a:spcBef>
                <a:spcPts val="1200"/>
              </a:spcBef>
              <a:spcAft>
                <a:spcPts val="1200"/>
              </a:spcAft>
              <a:buNone/>
            </a:pPr>
            <a:r>
              <a:rPr lang="pt-BR" sz="1800"/>
              <a:t>Um líder de equipe, chamado </a:t>
            </a:r>
            <a:r>
              <a:rPr b="1" i="1" lang="pt-BR" sz="1800"/>
              <a:t>Scrum master</a:t>
            </a:r>
            <a:r>
              <a:rPr lang="pt-BR" sz="1800"/>
              <a:t>, conduz a reunião e avalia as respostas de cada integrante. A reunião Scrum, realizada diariamente, ajuda a equipe a revelar problemas potenciais o mais cedo possível. Ela também leva à “socialização do conhecimento” e, portanto, promove uma estrutura de equipe auto-organizada.</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Scrum</a:t>
            </a:r>
            <a:endParaRPr/>
          </a:p>
        </p:txBody>
      </p:sp>
      <p:sp>
        <p:nvSpPr>
          <p:cNvPr id="355" name="Google Shape;355;p54"/>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1200"/>
              </a:spcAft>
              <a:buNone/>
            </a:pPr>
            <a:r>
              <a:rPr b="1" lang="pt-BR" sz="1800"/>
              <a:t>Demos — </a:t>
            </a:r>
            <a:r>
              <a:rPr lang="pt-BR" sz="1800"/>
              <a:t>entrega do incremento de software ao cliente para que a funcionalidade implementada possa ser demonstrada e avaliada pelo cliente. É importante notar que a demo pode não ter toda a funcionalidade planejada, mas sim funções que possam ser entregues no prazo estipulado.</a:t>
            </a:r>
            <a:endParaRPr sz="18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pt-BR"/>
              <a:t>Dynamic Systems Development Method </a:t>
            </a:r>
            <a:r>
              <a:rPr lang="pt-BR"/>
              <a:t>(DSDM)</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Método de Desenvolvimento de Sistemas Dinâmicos </a:t>
            </a:r>
            <a:endParaRPr/>
          </a:p>
        </p:txBody>
      </p:sp>
      <p:sp>
        <p:nvSpPr>
          <p:cNvPr id="366" name="Google Shape;366;p56"/>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É uma abordagem de desenvolvimento de software ágil que “oferece uma metodologia para construir e manter sistemas que atendem restrições de prazo apertado através do uso da </a:t>
            </a:r>
            <a:r>
              <a:rPr b="1" lang="pt-BR" sz="1800"/>
              <a:t>prototipagem incremental</a:t>
            </a:r>
            <a:r>
              <a:rPr lang="pt-BR" sz="1800"/>
              <a:t> em um ambiente de projeto controlado.</a:t>
            </a:r>
            <a:endParaRPr sz="18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Método de Desenvolvimento de Sistemas Dinâmicos </a:t>
            </a:r>
            <a:endParaRPr/>
          </a:p>
        </p:txBody>
      </p:sp>
      <p:sp>
        <p:nvSpPr>
          <p:cNvPr id="372" name="Google Shape;372;p57"/>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A filosofia DSDM baseia-se em uma versão modificada do princípio de Pareto — 80% de uma aplicação pode ser entregue em 20% do tempo que levaria para entregar a aplicação completa (100%)</a:t>
            </a:r>
            <a:endParaRPr sz="18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Método de Desenvolvimento de Sistemas Dinâmicos </a:t>
            </a:r>
            <a:endParaRPr/>
          </a:p>
        </p:txBody>
      </p:sp>
      <p:sp>
        <p:nvSpPr>
          <p:cNvPr id="378" name="Google Shape;378;p58"/>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0"/>
              </a:spcAft>
              <a:buNone/>
            </a:pPr>
            <a:r>
              <a:rPr lang="pt-BR" sz="1800"/>
              <a:t>O DSDM é um processo de software iterativo em que cada iteração segue a regra dos 80%. Ou seja, somente o trabalho suficiente é requisitado para cada incremento, para facilitar o movimento para o próximo incremento. </a:t>
            </a:r>
            <a:endParaRPr sz="1800"/>
          </a:p>
          <a:p>
            <a:pPr indent="457200" lvl="0" marL="0" rtl="0" algn="ctr">
              <a:spcBef>
                <a:spcPts val="1200"/>
              </a:spcBef>
              <a:spcAft>
                <a:spcPts val="1200"/>
              </a:spcAft>
              <a:buNone/>
            </a:pPr>
            <a:r>
              <a:rPr lang="pt-BR" sz="1800" u="sng">
                <a:solidFill>
                  <a:schemeClr val="hlink"/>
                </a:solidFill>
                <a:hlinkClick r:id="rId3"/>
              </a:rPr>
              <a:t>www.dsdm.org</a:t>
            </a:r>
            <a:endParaRPr sz="18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Método de Desenvolvimento de Sistemas Dinâmicos </a:t>
            </a:r>
            <a:endParaRPr/>
          </a:p>
        </p:txBody>
      </p:sp>
      <p:sp>
        <p:nvSpPr>
          <p:cNvPr id="384" name="Google Shape;384;p59"/>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rPr b="1" lang="pt-BR" sz="1800"/>
              <a:t>Ciclo de vida </a:t>
            </a:r>
            <a:r>
              <a:rPr lang="pt-BR" sz="1800"/>
              <a:t>DSDM que define três ciclos iterativos diferentes, precedidos por duas atividades de ciclo de vida adicionais:</a:t>
            </a:r>
            <a:endParaRPr sz="18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Método de Desenvolvimento de Sistemas Dinâmicos </a:t>
            </a:r>
            <a:endParaRPr/>
          </a:p>
        </p:txBody>
      </p:sp>
      <p:sp>
        <p:nvSpPr>
          <p:cNvPr id="390" name="Google Shape;390;p60"/>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l">
              <a:spcBef>
                <a:spcPts val="0"/>
              </a:spcBef>
              <a:spcAft>
                <a:spcPts val="1200"/>
              </a:spcAft>
              <a:buNone/>
            </a:pPr>
            <a:r>
              <a:t/>
            </a:r>
            <a:endParaRPr sz="1800"/>
          </a:p>
        </p:txBody>
      </p:sp>
      <p:pic>
        <p:nvPicPr>
          <p:cNvPr id="391" name="Google Shape;391;p60"/>
          <p:cNvPicPr preferRelativeResize="0"/>
          <p:nvPr/>
        </p:nvPicPr>
        <p:blipFill>
          <a:blip r:embed="rId3">
            <a:alphaModFix/>
          </a:blip>
          <a:stretch>
            <a:fillRect/>
          </a:stretch>
        </p:blipFill>
        <p:spPr>
          <a:xfrm>
            <a:off x="662051" y="938425"/>
            <a:ext cx="7823500" cy="4151453"/>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Método de Desenvolvimento de Sistemas Dinâmicos </a:t>
            </a:r>
            <a:endParaRPr/>
          </a:p>
        </p:txBody>
      </p:sp>
      <p:sp>
        <p:nvSpPr>
          <p:cNvPr id="397" name="Google Shape;397;p61"/>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1200"/>
              </a:spcAft>
              <a:buNone/>
            </a:pPr>
            <a:r>
              <a:rPr b="1" lang="pt-BR" sz="1800"/>
              <a:t>Estudo da viabilidade</a:t>
            </a:r>
            <a:r>
              <a:rPr lang="pt-BR" sz="1800"/>
              <a:t> — estabelece os requisitos básicos de negócio e restrições associados à aplicação a ser construída e depois avalia se a aplicação é ou não um candidato viável para o processo DSDM.</a:t>
            </a:r>
            <a:endParaRPr sz="18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Método de Desenvolvimento de Sistemas Dinâmicos </a:t>
            </a:r>
            <a:endParaRPr/>
          </a:p>
        </p:txBody>
      </p:sp>
      <p:sp>
        <p:nvSpPr>
          <p:cNvPr id="403" name="Google Shape;403;p62"/>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1200"/>
              </a:spcAft>
              <a:buNone/>
            </a:pPr>
            <a:r>
              <a:rPr b="1" lang="pt-BR" sz="1800"/>
              <a:t>Estudo do negócio — </a:t>
            </a:r>
            <a:r>
              <a:rPr lang="pt-BR" sz="1800"/>
              <a:t>estabelece os </a:t>
            </a:r>
            <a:r>
              <a:rPr b="1" lang="pt-BR" sz="1800"/>
              <a:t>requisitos funcionais</a:t>
            </a:r>
            <a:r>
              <a:rPr lang="pt-BR" sz="1800"/>
              <a:t> e de informação que permitirão à aplicação agregar valor de negócio; define também a arquitetura básica da aplicação e identifica os requisitos de facilidade de manutenção para a aplicação.</a:t>
            </a:r>
            <a:endParaRPr sz="18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Método de Desenvolvimento de Sistemas Dinâmicos </a:t>
            </a:r>
            <a:endParaRPr/>
          </a:p>
        </p:txBody>
      </p:sp>
      <p:sp>
        <p:nvSpPr>
          <p:cNvPr id="409" name="Google Shape;409;p63"/>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1200"/>
              </a:spcAft>
              <a:buNone/>
            </a:pPr>
            <a:r>
              <a:rPr b="1" lang="pt-BR" sz="1800"/>
              <a:t>Iteração de modelos funcionais — </a:t>
            </a:r>
            <a:r>
              <a:rPr lang="pt-BR" sz="1800"/>
              <a:t>produz um conjunto de protótipos incrementais que demonstram funcionalidade para o cliente. Durante esse ciclo iterativo, o objetivo é juntar requisitos adicionais ao se obter feedback dos usuários, conforme testam o protótipo.</a:t>
            </a:r>
            <a:endParaRPr sz="18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Método de Desenvolvimento de Sistemas Dinâmicos </a:t>
            </a:r>
            <a:endParaRPr/>
          </a:p>
        </p:txBody>
      </p:sp>
      <p:sp>
        <p:nvSpPr>
          <p:cNvPr id="415" name="Google Shape;415;p64"/>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1200"/>
              </a:spcAft>
              <a:buNone/>
            </a:pPr>
            <a:r>
              <a:rPr b="1" lang="pt-BR" sz="1800"/>
              <a:t>Iteração de projeto e desenvolvimento</a:t>
            </a:r>
            <a:r>
              <a:rPr lang="pt-BR" sz="1800"/>
              <a:t> — revisita protótipos desenvolvidos durante a iteração de modelos funcionais para assegurar-se de que cada um tenha passado por um processo de engenharia para capacitá-los a oferecer, aos usuários finais, valor de negócio em termos operacionais. Em alguns casos, a iteração de modelos funcionais e a iteração de projeto e desenvolvimento ocorrem ao mesmo tempo.</a:t>
            </a:r>
            <a:endParaRPr sz="18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Método de Desenvolvimento de Sistemas Dinâmicos </a:t>
            </a:r>
            <a:endParaRPr/>
          </a:p>
        </p:txBody>
      </p:sp>
      <p:sp>
        <p:nvSpPr>
          <p:cNvPr id="421" name="Google Shape;421;p65"/>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fontScale="92500"/>
          </a:bodyPr>
          <a:lstStyle/>
          <a:p>
            <a:pPr indent="0" lvl="0" marL="0" rtl="0" algn="just">
              <a:spcBef>
                <a:spcPts val="0"/>
              </a:spcBef>
              <a:spcAft>
                <a:spcPts val="0"/>
              </a:spcAft>
              <a:buNone/>
            </a:pPr>
            <a:r>
              <a:rPr b="1" lang="pt-BR" sz="1800"/>
              <a:t>Implementação — </a:t>
            </a:r>
            <a:r>
              <a:rPr lang="pt-BR" sz="1800"/>
              <a:t>aloca a última versão do incremento de software (um protótipo “operacionalizado”) no ambiente operacional. Deve-se notar que: </a:t>
            </a:r>
            <a:endParaRPr sz="1800"/>
          </a:p>
          <a:p>
            <a:pPr indent="-334327" lvl="0" marL="457200" rtl="0" algn="just">
              <a:spcBef>
                <a:spcPts val="1200"/>
              </a:spcBef>
              <a:spcAft>
                <a:spcPts val="0"/>
              </a:spcAft>
              <a:buSzPct val="100000"/>
              <a:buChar char="●"/>
            </a:pPr>
            <a:r>
              <a:rPr lang="pt-BR" sz="1800"/>
              <a:t>o incremento pode não estar 100% completo; </a:t>
            </a:r>
            <a:endParaRPr sz="1800"/>
          </a:p>
          <a:p>
            <a:pPr indent="-334327" lvl="0" marL="457200" rtl="0" algn="just">
              <a:spcBef>
                <a:spcPts val="0"/>
              </a:spcBef>
              <a:spcAft>
                <a:spcPts val="0"/>
              </a:spcAft>
              <a:buSzPct val="100000"/>
              <a:buChar char="●"/>
            </a:pPr>
            <a:r>
              <a:rPr lang="pt-BR" sz="1800"/>
              <a:t>alterações podem vir a ser solicitadas conforme o incremento seja alocado. </a:t>
            </a:r>
            <a:endParaRPr sz="1800"/>
          </a:p>
          <a:p>
            <a:pPr indent="0" lvl="0" marL="0" rtl="0" algn="just">
              <a:spcBef>
                <a:spcPts val="1200"/>
              </a:spcBef>
              <a:spcAft>
                <a:spcPts val="1200"/>
              </a:spcAft>
              <a:buNone/>
            </a:pPr>
            <a:r>
              <a:rPr lang="pt-BR" sz="1800"/>
              <a:t>Em qualquer dos casos, o trabalho de desenvolvimento do DSDM continua, retornando-se à atividade de iteração do modelo funcional.</a:t>
            </a:r>
            <a:endParaRPr sz="18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i="1" lang="pt-BR"/>
              <a:t>Feature Driven Development (FDD)</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Desenvolvimento Dirigido a Funcionalidades (FDD)</a:t>
            </a:r>
            <a:endParaRPr/>
          </a:p>
        </p:txBody>
      </p:sp>
      <p:sp>
        <p:nvSpPr>
          <p:cNvPr id="432" name="Google Shape;432;p67"/>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rPr lang="pt-BR" sz="1800"/>
              <a:t>Foi concebido originalmente por Peter Coad e seus colegas como um modelo de processos prático para a engenharia de software orientada a objetos. Stephen Palmer e John Felsing estenderam e aperfeiçoaram o trabalho de Coad, descrevendo um processo ágil adaptativo que pode ser aplicado a projetos de software de porte moderado e a projetos maiores.</a:t>
            </a:r>
            <a:endParaRPr sz="18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Desenvolvimento Dirigido a Funcionalidades (FDD)</a:t>
            </a:r>
            <a:endParaRPr/>
          </a:p>
        </p:txBody>
      </p:sp>
      <p:sp>
        <p:nvSpPr>
          <p:cNvPr id="438" name="Google Shape;438;p68"/>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457200" lvl="0" marL="0" rtl="0" algn="just">
              <a:spcBef>
                <a:spcPts val="0"/>
              </a:spcBef>
              <a:spcAft>
                <a:spcPts val="1200"/>
              </a:spcAft>
              <a:buNone/>
            </a:pPr>
            <a:r>
              <a:t/>
            </a:r>
            <a:endParaRPr sz="1800"/>
          </a:p>
        </p:txBody>
      </p:sp>
      <p:pic>
        <p:nvPicPr>
          <p:cNvPr id="439" name="Google Shape;439;p68"/>
          <p:cNvPicPr preferRelativeResize="0"/>
          <p:nvPr/>
        </p:nvPicPr>
        <p:blipFill>
          <a:blip r:embed="rId3">
            <a:alphaModFix/>
          </a:blip>
          <a:stretch>
            <a:fillRect/>
          </a:stretch>
        </p:blipFill>
        <p:spPr>
          <a:xfrm>
            <a:off x="623875" y="1139450"/>
            <a:ext cx="7896225" cy="35623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Desenvolvimento Dirigido a Funcionalidades (FDD)</a:t>
            </a:r>
            <a:endParaRPr/>
          </a:p>
        </p:txBody>
      </p:sp>
      <p:sp>
        <p:nvSpPr>
          <p:cNvPr id="445" name="Google Shape;445;p69"/>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lnSpcReduction="20000"/>
          </a:bodyPr>
          <a:lstStyle/>
          <a:p>
            <a:pPr indent="0" lvl="0" marL="0" rtl="0" algn="just">
              <a:spcBef>
                <a:spcPts val="0"/>
              </a:spcBef>
              <a:spcAft>
                <a:spcPts val="0"/>
              </a:spcAft>
              <a:buNone/>
            </a:pPr>
            <a:r>
              <a:rPr lang="pt-BR" sz="1800"/>
              <a:t>Como outras abordagens ágeis, o FDD adota uma filosofia que:</a:t>
            </a:r>
            <a:endParaRPr sz="1800"/>
          </a:p>
          <a:p>
            <a:pPr indent="-342900" lvl="0" marL="457200" rtl="0" algn="just">
              <a:spcBef>
                <a:spcPts val="1200"/>
              </a:spcBef>
              <a:spcAft>
                <a:spcPts val="0"/>
              </a:spcAft>
              <a:buSzPts val="1800"/>
              <a:buChar char="●"/>
            </a:pPr>
            <a:r>
              <a:rPr lang="pt-BR" sz="1800"/>
              <a:t>Enfatiza a colaboração entre pessoas da equipe FDD; </a:t>
            </a:r>
            <a:endParaRPr sz="1800"/>
          </a:p>
          <a:p>
            <a:pPr indent="-342900" lvl="0" marL="457200" rtl="0" algn="just">
              <a:spcBef>
                <a:spcPts val="0"/>
              </a:spcBef>
              <a:spcAft>
                <a:spcPts val="0"/>
              </a:spcAft>
              <a:buSzPts val="1800"/>
              <a:buChar char="●"/>
            </a:pPr>
            <a:r>
              <a:rPr lang="pt-BR" sz="1800"/>
              <a:t>Gerência</a:t>
            </a:r>
            <a:r>
              <a:rPr lang="pt-BR" sz="1800"/>
              <a:t> problemas e complexidade de projetos utilizando a decomposição baseada em funcionalidades, seguida pela integração dos incrementos de software; </a:t>
            </a:r>
            <a:endParaRPr sz="1800"/>
          </a:p>
          <a:p>
            <a:pPr indent="-342900" lvl="0" marL="457200" rtl="0" algn="just">
              <a:spcBef>
                <a:spcPts val="0"/>
              </a:spcBef>
              <a:spcAft>
                <a:spcPts val="0"/>
              </a:spcAft>
              <a:buSzPts val="1800"/>
              <a:buChar char="●"/>
            </a:pPr>
            <a:r>
              <a:rPr lang="pt-BR" sz="1800"/>
              <a:t>Comunicação de detalhes técnicos usando meios verbais, gráficos e de texto.</a:t>
            </a:r>
            <a:endParaRPr sz="18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7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Desenvolvimento Dirigido a Funcionalidades (FDD)</a:t>
            </a:r>
            <a:endParaRPr/>
          </a:p>
        </p:txBody>
      </p:sp>
      <p:sp>
        <p:nvSpPr>
          <p:cNvPr id="451" name="Google Shape;451;p70"/>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1200"/>
              </a:spcAft>
              <a:buNone/>
            </a:pPr>
            <a:r>
              <a:rPr lang="pt-BR" sz="1800"/>
              <a:t>No contexto do FDD, </a:t>
            </a:r>
            <a:r>
              <a:rPr lang="pt-BR" sz="1800"/>
              <a:t>funcionalidade é</a:t>
            </a:r>
            <a:r>
              <a:rPr lang="pt-BR" sz="1800"/>
              <a:t> uma função valorizada pelo cliente passível de ser implementada em duas semanas ou menos. </a:t>
            </a:r>
            <a:endParaRPr sz="18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Desenvolvimento Dirigido a Funcionalidades (FDD)</a:t>
            </a:r>
            <a:endParaRPr/>
          </a:p>
        </p:txBody>
      </p:sp>
      <p:sp>
        <p:nvSpPr>
          <p:cNvPr id="457" name="Google Shape;457;p71"/>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lnSpcReduction="20000"/>
          </a:bodyPr>
          <a:lstStyle/>
          <a:p>
            <a:pPr indent="0" lvl="0" marL="0" rtl="0" algn="just">
              <a:spcBef>
                <a:spcPts val="0"/>
              </a:spcBef>
              <a:spcAft>
                <a:spcPts val="0"/>
              </a:spcAft>
              <a:buNone/>
            </a:pPr>
            <a:r>
              <a:rPr lang="pt-BR" sz="1800"/>
              <a:t> A ênfase na definição de funcionalidades gera os seguintes benefícios:</a:t>
            </a:r>
            <a:endParaRPr sz="1800"/>
          </a:p>
          <a:p>
            <a:pPr indent="-342900" lvl="0" marL="457200" rtl="0" algn="just">
              <a:spcBef>
                <a:spcPts val="1200"/>
              </a:spcBef>
              <a:spcAft>
                <a:spcPts val="0"/>
              </a:spcAft>
              <a:buSzPts val="1800"/>
              <a:buChar char="●"/>
            </a:pPr>
            <a:r>
              <a:rPr lang="pt-BR" sz="1800"/>
              <a:t>Como as funcionalidades formam pequenos blocos que podem ser entregues, os usuários podem descrevê-las mais facilmente; compreender como se relacionam entre si mais prontamente; e revisá-las melhor em termos de ambiguidade, erros ou omissões.</a:t>
            </a:r>
            <a:endParaRPr sz="1800"/>
          </a:p>
          <a:p>
            <a:pPr indent="-342900" lvl="0" marL="457200" rtl="0" algn="just">
              <a:spcBef>
                <a:spcPts val="0"/>
              </a:spcBef>
              <a:spcAft>
                <a:spcPts val="0"/>
              </a:spcAft>
              <a:buSzPts val="1800"/>
              <a:buChar char="●"/>
            </a:pPr>
            <a:r>
              <a:rPr lang="pt-BR" sz="1800"/>
              <a:t>As funcionalidades podem ser organizadas em um agrupamento hierárquico relacionado com o negócio.</a:t>
            </a:r>
            <a:endParaRPr sz="18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Desenvolvimento Dirigido a Funcionalidades (FDD)</a:t>
            </a:r>
            <a:endParaRPr/>
          </a:p>
        </p:txBody>
      </p:sp>
      <p:sp>
        <p:nvSpPr>
          <p:cNvPr id="463" name="Google Shape;463;p72"/>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0"/>
              </a:spcAft>
              <a:buNone/>
            </a:pPr>
            <a:r>
              <a:rPr lang="pt-BR" sz="1800"/>
              <a:t> A ênfase na definição de funcionalidades gera os seguintes benefícios:</a:t>
            </a:r>
            <a:endParaRPr sz="1800"/>
          </a:p>
          <a:p>
            <a:pPr indent="-342900" lvl="0" marL="457200" rtl="0" algn="just">
              <a:spcBef>
                <a:spcPts val="1200"/>
              </a:spcBef>
              <a:spcAft>
                <a:spcPts val="0"/>
              </a:spcAft>
              <a:buSzPts val="1800"/>
              <a:buChar char="●"/>
            </a:pPr>
            <a:r>
              <a:rPr lang="pt-BR" sz="1800"/>
              <a:t>Como uma funcionalidade é o incremento de software do FDD que pode ser entregue, a equipe desenvolve funcionalidades operacionais a cada duas semanas.</a:t>
            </a:r>
            <a:endParaRPr sz="1800"/>
          </a:p>
          <a:p>
            <a:pPr indent="-342900" lvl="0" marL="457200" rtl="0" algn="just">
              <a:spcBef>
                <a:spcPts val="0"/>
              </a:spcBef>
              <a:spcAft>
                <a:spcPts val="0"/>
              </a:spcAft>
              <a:buSzPts val="1800"/>
              <a:buChar char="●"/>
            </a:pPr>
            <a:r>
              <a:rPr lang="pt-BR" sz="1800"/>
              <a:t>Pelo fato de o bloco de funcionalidades ser pequeno, seus projeto e representações de código são mais fáceis de inspecionar efetivamente.</a:t>
            </a:r>
            <a:endParaRPr sz="18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Desenvolvimento Dirigido a Funcionalidades (FDD)</a:t>
            </a:r>
            <a:endParaRPr/>
          </a:p>
        </p:txBody>
      </p:sp>
      <p:sp>
        <p:nvSpPr>
          <p:cNvPr id="469" name="Google Shape;469;p73"/>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0"/>
              </a:spcAft>
              <a:buNone/>
            </a:pPr>
            <a:r>
              <a:rPr lang="pt-BR" sz="1800"/>
              <a:t> A ênfase na definição de funcionalidades gera os seguintes benefícios:</a:t>
            </a:r>
            <a:endParaRPr sz="1800"/>
          </a:p>
          <a:p>
            <a:pPr indent="-342900" lvl="0" marL="457200" rtl="0" algn="just">
              <a:spcBef>
                <a:spcPts val="1200"/>
              </a:spcBef>
              <a:spcAft>
                <a:spcPts val="0"/>
              </a:spcAft>
              <a:buSzPts val="1800"/>
              <a:buChar char="●"/>
            </a:pPr>
            <a:r>
              <a:rPr lang="pt-BR" sz="1800"/>
              <a:t>O planejamento, cronograma e acompanhamento do projeto são guiados pela hierarquia de funcionalidades, em vez de um conjunto de tarefas de engenharia de software arbitrariamente adotado.</a:t>
            </a:r>
            <a:endParaRPr sz="18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7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Desenvolvimento Dirigido a Funcionalidades (FDD)</a:t>
            </a:r>
            <a:endParaRPr/>
          </a:p>
        </p:txBody>
      </p:sp>
      <p:sp>
        <p:nvSpPr>
          <p:cNvPr id="475" name="Google Shape;475;p74"/>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0"/>
              </a:spcAft>
              <a:buNone/>
            </a:pPr>
            <a:r>
              <a:rPr lang="pt-BR" sz="1800"/>
              <a:t>Coad e seus colegas sugerem o seguinte modelo para definir uma funcionalidade:</a:t>
            </a:r>
            <a:endParaRPr sz="1800"/>
          </a:p>
          <a:p>
            <a:pPr indent="0" lvl="0" marL="0" rtl="0" algn="ctr">
              <a:spcBef>
                <a:spcPts val="1200"/>
              </a:spcBef>
              <a:spcAft>
                <a:spcPts val="1200"/>
              </a:spcAft>
              <a:buNone/>
            </a:pPr>
            <a:r>
              <a:rPr b="1" lang="pt-BR" sz="1800"/>
              <a:t>&lt;ação&gt;</a:t>
            </a:r>
            <a:r>
              <a:rPr lang="pt-BR" sz="1800"/>
              <a:t> o </a:t>
            </a:r>
            <a:r>
              <a:rPr b="1" lang="pt-BR" sz="1800"/>
              <a:t>&lt;resultado&gt;</a:t>
            </a:r>
            <a:r>
              <a:rPr lang="pt-BR" sz="1800"/>
              <a:t> </a:t>
            </a:r>
            <a:r>
              <a:rPr b="1" lang="pt-BR" sz="1800"/>
              <a:t>&lt;por|para quem| de | para que&gt;</a:t>
            </a:r>
            <a:r>
              <a:rPr lang="pt-BR" sz="1800"/>
              <a:t> um </a:t>
            </a:r>
            <a:r>
              <a:rPr b="1" lang="pt-BR" sz="1800"/>
              <a:t>&lt;objeto&gt;</a:t>
            </a:r>
            <a:endParaRPr b="1" sz="18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7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Desenvolvimento Dirigido a Funcionalidades (FDD)</a:t>
            </a:r>
            <a:endParaRPr/>
          </a:p>
        </p:txBody>
      </p:sp>
      <p:sp>
        <p:nvSpPr>
          <p:cNvPr id="481" name="Google Shape;481;p75"/>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1200"/>
              </a:spcAft>
              <a:buNone/>
            </a:pPr>
            <a:r>
              <a:rPr lang="pt-BR" sz="1800"/>
              <a:t>Um </a:t>
            </a:r>
            <a:r>
              <a:rPr b="1" lang="pt-BR" sz="1800"/>
              <a:t>&lt;objeto&gt;</a:t>
            </a:r>
            <a:r>
              <a:rPr lang="pt-BR" sz="1800"/>
              <a:t> é “uma pessoa, local ou coisa (inclusive papéis, momentos no tempo ou intervalos de tempo ou descrições parecidas com aquelas encontradas em catálogos)”. </a:t>
            </a:r>
            <a:endParaRPr b="1" sz="18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7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Desenvolvimento Dirigido a Funcionalidades (FDD)</a:t>
            </a:r>
            <a:endParaRPr/>
          </a:p>
        </p:txBody>
      </p:sp>
      <p:sp>
        <p:nvSpPr>
          <p:cNvPr id="487" name="Google Shape;487;p76"/>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0"/>
              </a:spcAft>
              <a:buNone/>
            </a:pPr>
            <a:r>
              <a:rPr lang="pt-BR" sz="1800"/>
              <a:t>Exemplos de funcionalidades para uma aplicação de comércio eletrônico poderiam ser:</a:t>
            </a:r>
            <a:endParaRPr b="1" sz="1800"/>
          </a:p>
          <a:p>
            <a:pPr indent="0" lvl="0" marL="0" rtl="0" algn="just">
              <a:spcBef>
                <a:spcPts val="1200"/>
              </a:spcBef>
              <a:spcAft>
                <a:spcPts val="0"/>
              </a:spcAft>
              <a:buNone/>
            </a:pPr>
            <a:r>
              <a:rPr i="1" lang="pt-BR" sz="1800"/>
              <a:t>Adicione o produto ao carrinho </a:t>
            </a:r>
            <a:endParaRPr i="1" sz="1800"/>
          </a:p>
          <a:p>
            <a:pPr indent="0" lvl="0" marL="0" rtl="0" algn="just">
              <a:spcBef>
                <a:spcPts val="1200"/>
              </a:spcBef>
              <a:spcAft>
                <a:spcPts val="0"/>
              </a:spcAft>
              <a:buNone/>
            </a:pPr>
            <a:r>
              <a:rPr i="1" lang="pt-BR" sz="1800"/>
              <a:t>Mostre as especificações técnicas do produto</a:t>
            </a:r>
            <a:endParaRPr i="1" sz="1800"/>
          </a:p>
          <a:p>
            <a:pPr indent="0" lvl="0" marL="0" rtl="0" algn="just">
              <a:spcBef>
                <a:spcPts val="1200"/>
              </a:spcBef>
              <a:spcAft>
                <a:spcPts val="1200"/>
              </a:spcAft>
              <a:buNone/>
            </a:pPr>
            <a:r>
              <a:rPr i="1" lang="pt-BR" sz="1800"/>
              <a:t>Armazene as informações de remessa para o cliente</a:t>
            </a:r>
            <a:endParaRPr i="1" sz="18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7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Desenvolvimento Dirigido a Funcionalidades (FDD)</a:t>
            </a:r>
            <a:endParaRPr/>
          </a:p>
        </p:txBody>
      </p:sp>
      <p:sp>
        <p:nvSpPr>
          <p:cNvPr id="493" name="Google Shape;493;p77"/>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lnSpcReduction="10000"/>
          </a:bodyPr>
          <a:lstStyle/>
          <a:p>
            <a:pPr indent="0" lvl="0" marL="0" rtl="0" algn="just">
              <a:spcBef>
                <a:spcPts val="0"/>
              </a:spcBef>
              <a:spcAft>
                <a:spcPts val="0"/>
              </a:spcAft>
              <a:buNone/>
            </a:pPr>
            <a:r>
              <a:rPr lang="pt-BR" sz="1800"/>
              <a:t>Um conjunto de funcionalidades agrupa funcionalidades em categorias correlacionadas por negócio e é definido com:</a:t>
            </a:r>
            <a:endParaRPr sz="1800"/>
          </a:p>
          <a:p>
            <a:pPr indent="0" lvl="0" marL="0" rtl="0" algn="just">
              <a:spcBef>
                <a:spcPts val="1200"/>
              </a:spcBef>
              <a:spcAft>
                <a:spcPts val="0"/>
              </a:spcAft>
              <a:buNone/>
            </a:pPr>
            <a:r>
              <a:rPr b="1" lang="pt-BR" sz="1800">
                <a:solidFill>
                  <a:schemeClr val="dk1"/>
                </a:solidFill>
              </a:rPr>
              <a:t>&lt;ação&gt;</a:t>
            </a:r>
            <a:r>
              <a:rPr lang="pt-BR" sz="1800">
                <a:solidFill>
                  <a:schemeClr val="dk1"/>
                </a:solidFill>
              </a:rPr>
              <a:t> </a:t>
            </a:r>
            <a:r>
              <a:rPr lang="pt-BR" sz="1800"/>
              <a:t>um </a:t>
            </a:r>
            <a:r>
              <a:rPr b="1" lang="pt-BR" sz="1800">
                <a:solidFill>
                  <a:schemeClr val="accent3"/>
                </a:solidFill>
              </a:rPr>
              <a:t>&lt;objeto&gt;</a:t>
            </a:r>
            <a:endParaRPr b="1" sz="1800">
              <a:solidFill>
                <a:schemeClr val="accent3"/>
              </a:solidFill>
            </a:endParaRPr>
          </a:p>
          <a:p>
            <a:pPr indent="0" lvl="0" marL="0" rtl="0" algn="just">
              <a:spcBef>
                <a:spcPts val="1200"/>
              </a:spcBef>
              <a:spcAft>
                <a:spcPts val="1200"/>
              </a:spcAft>
              <a:buNone/>
            </a:pPr>
            <a:r>
              <a:rPr lang="pt-BR" sz="1800"/>
              <a:t>Por exemplo: </a:t>
            </a:r>
            <a:r>
              <a:rPr b="1" lang="pt-BR" sz="1800">
                <a:solidFill>
                  <a:schemeClr val="dk1"/>
                </a:solidFill>
              </a:rPr>
              <a:t>Fazer a venda</a:t>
            </a:r>
            <a:r>
              <a:rPr b="1" lang="pt-BR" sz="1800"/>
              <a:t> de um </a:t>
            </a:r>
            <a:r>
              <a:rPr b="1" lang="pt-BR" sz="1800">
                <a:solidFill>
                  <a:schemeClr val="accent3"/>
                </a:solidFill>
              </a:rPr>
              <a:t>produto</a:t>
            </a:r>
            <a:r>
              <a:rPr lang="pt-BR" sz="1800"/>
              <a:t> é um conjunto de funcionalidades que abrangeria os fatores percebidos anteriormente e outros</a:t>
            </a:r>
            <a:endParaRPr sz="18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Exercício</a:t>
            </a:r>
            <a:endParaRPr/>
          </a:p>
        </p:txBody>
      </p:sp>
      <p:sp>
        <p:nvSpPr>
          <p:cNvPr id="499" name="Google Shape;499;p78"/>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a:bodyPr>
          <a:lstStyle/>
          <a:p>
            <a:pPr indent="0" lvl="0" marL="0" rtl="0" algn="just">
              <a:spcBef>
                <a:spcPts val="0"/>
              </a:spcBef>
              <a:spcAft>
                <a:spcPts val="1200"/>
              </a:spcAft>
              <a:buNone/>
            </a:pPr>
            <a:r>
              <a:rPr lang="pt-BR" sz="1800"/>
              <a:t>Desenvolva os exercícios da lista.</a:t>
            </a:r>
            <a:endParaRPr sz="18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7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t-BR"/>
              <a:t>Bibliografia</a:t>
            </a:r>
            <a:endParaRPr/>
          </a:p>
        </p:txBody>
      </p:sp>
      <p:sp>
        <p:nvSpPr>
          <p:cNvPr id="505" name="Google Shape;505;p79"/>
          <p:cNvSpPr txBox="1"/>
          <p:nvPr>
            <p:ph idx="1" type="body"/>
          </p:nvPr>
        </p:nvSpPr>
        <p:spPr>
          <a:xfrm>
            <a:off x="729450" y="2078875"/>
            <a:ext cx="7688700" cy="2261100"/>
          </a:xfrm>
          <a:prstGeom prst="rect">
            <a:avLst/>
          </a:prstGeom>
        </p:spPr>
        <p:txBody>
          <a:bodyPr anchorCtr="0" anchor="ctr" bIns="91425" lIns="91425" spcFirstLastPara="1" rIns="91425" wrap="square" tIns="91425">
            <a:normAutofit fontScale="70000" lnSpcReduction="10000"/>
          </a:bodyPr>
          <a:lstStyle/>
          <a:p>
            <a:pPr indent="0" lvl="0" marL="0" rtl="0" algn="just">
              <a:spcBef>
                <a:spcPts val="0"/>
              </a:spcBef>
              <a:spcAft>
                <a:spcPts val="0"/>
              </a:spcAft>
              <a:buNone/>
            </a:pPr>
            <a:r>
              <a:rPr lang="pt-BR" sz="1800"/>
              <a:t>BEZERRA, Eduardo. Princípios de análise e projeto de sistemas com UML. 2. ed. rev. atual. Rio de Janeiro, RJ: Campus, 2007. 369 p. </a:t>
            </a:r>
            <a:endParaRPr sz="1800"/>
          </a:p>
          <a:p>
            <a:pPr indent="0" lvl="0" marL="0" rtl="0" algn="just">
              <a:spcBef>
                <a:spcPts val="1200"/>
              </a:spcBef>
              <a:spcAft>
                <a:spcPts val="0"/>
              </a:spcAft>
              <a:buNone/>
            </a:pPr>
            <a:r>
              <a:rPr lang="pt-BR" sz="1800"/>
              <a:t>LARMAN, Craig. Utilizando UML e padrões: uma introdução à análise e ao projeto orientados a objetos e ao desenvolvimento iterativo. 3. ed., reimpr. Porto Alegre: Bookman, 2007. 695 p. ISBN 978-85-60031-52-8 </a:t>
            </a:r>
            <a:endParaRPr sz="1800"/>
          </a:p>
          <a:p>
            <a:pPr indent="0" lvl="0" marL="0" rtl="0" algn="just">
              <a:spcBef>
                <a:spcPts val="1200"/>
              </a:spcBef>
              <a:spcAft>
                <a:spcPts val="0"/>
              </a:spcAft>
              <a:buNone/>
            </a:pPr>
            <a:r>
              <a:rPr lang="pt-BR" sz="1800"/>
              <a:t>WAZLAWICK, Raul Sidnei. Análise e projeto de sistemas de informação orientados a objetos. 2. ed. rev. e atual. Rio de Janeiro: Elsevier, 2011. 330 p. (Série SBC, Sociedade Brasileira de computação) ISBN 978-85-352-3916-4</a:t>
            </a:r>
            <a:endParaRPr sz="1800"/>
          </a:p>
          <a:p>
            <a:pPr indent="0" lvl="0" marL="0" rtl="0" algn="just">
              <a:spcBef>
                <a:spcPts val="1200"/>
              </a:spcBef>
              <a:spcAft>
                <a:spcPts val="1200"/>
              </a:spcAft>
              <a:buNone/>
            </a:pPr>
            <a:r>
              <a:rPr lang="pt-BR" sz="1800"/>
              <a:t>PRESSMAN, Roger S. Engenharia de software. 6. ed. Rio de Janeiro, RJ: McGraw Hill, 2006. 720 p</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